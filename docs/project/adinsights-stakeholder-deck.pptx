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457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914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1371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18288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22860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2743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3200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3657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 b="def" i="def"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 b="def" i="def"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 b="def" i="def"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_rels/chart3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3.xlsx"/></Relationships>

</file>

<file path=ppt/charts/_rels/chart4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4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05"/>
          <c:y val="0.005"/>
          <c:w val="0.99"/>
          <c:h val="0.9875"/>
        </c:manualLayout>
      </c:layout>
      <c:pie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Built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explosion val="0"/>
          <c:dPt>
            <c:idx val="0"/>
            <c:explosion val="0"/>
            <c:spPr>
              <a:solidFill>
                <a:schemeClr val="accent1"/>
              </a:solidFill>
              <a:ln w="12700" cap="flat">
                <a:noFill/>
                <a:miter lim="4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3400" u="none">
                      <a:solidFill>
                        <a:srgbClr val="FFFFFF"/>
                      </a:solidFill>
                      <a:latin typeface="Helvetica Neue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noFill/>
                <a:ln w="635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Sheet1!$B$1:$B$1</c:f>
              <c:strCache>
                <c:ptCount val="1"/>
                <c:pt idx="0">
                  <c:v>Capability Areas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6.000000</c:v>
                </c:pt>
              </c:numCache>
            </c:numRef>
          </c:val>
        </c:ser>
        <c:ser>
          <c:idx val="0"/>
          <c:order val="1"/>
          <c:tx>
            <c:strRef>
              <c:f>Sheet1!$A$3</c:f>
              <c:strCache>
                <c:ptCount val="1"/>
                <c:pt idx="1">
                  <c:v>In Progress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explosion val="0"/>
          <c:dPt>
            <c:idx val="0"/>
            <c:explosion val="0"/>
            <c:spPr>
              <a:solidFill>
                <a:schemeClr val="accent1"/>
              </a:solidFill>
              <a:ln w="12700" cap="flat">
                <a:noFill/>
                <a:miter lim="4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3400" u="none">
                      <a:solidFill>
                        <a:srgbClr val="FFFFFF"/>
                      </a:solidFill>
                      <a:latin typeface="Helvetica Neue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noFill/>
                <a:ln w="635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Sheet1!$B$1:$B$1</c:f>
              <c:strCache>
                <c:ptCount val="1"/>
                <c:pt idx="0">
                  <c:v>Capability Areas</c:v>
                </c:pt>
              </c:strCache>
            </c:strRef>
          </c:cat>
          <c:val>
            <c:numRef>
              <c:f>Sheet1!$B$3:$B$3</c:f>
              <c:numCache>
                <c:ptCount val="1"/>
                <c:pt idx="0">
                  <c:v>2.000000</c:v>
                </c:pt>
              </c:numCache>
            </c:numRef>
          </c:val>
        </c:ser>
        <c:ser>
          <c:idx val="0"/>
          <c:order val="2"/>
          <c:tx>
            <c:strRef>
              <c:f>Sheet1!$A$4</c:f>
              <c:strCache>
                <c:ptCount val="1"/>
                <c:pt idx="2">
                  <c:v>Planned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explosion val="0"/>
          <c:dPt>
            <c:idx val="0"/>
            <c:explosion val="0"/>
            <c:spPr>
              <a:solidFill>
                <a:schemeClr val="accent1"/>
              </a:solidFill>
              <a:ln w="12700" cap="flat">
                <a:noFill/>
                <a:miter lim="4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3400" u="none">
                      <a:solidFill>
                        <a:srgbClr val="FFFFFF"/>
                      </a:solidFill>
                      <a:latin typeface="Helvetica Neue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noFill/>
                <a:ln w="635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Sheet1!$B$1:$B$1</c:f>
              <c:strCache>
                <c:ptCount val="1"/>
                <c:pt idx="0">
                  <c:v>Capability Areas</c:v>
                </c:pt>
              </c:strCache>
            </c:strRef>
          </c:cat>
          <c:val>
            <c:numRef>
              <c:f>Sheet1!$B$4:$B$4</c:f>
              <c:numCache>
                <c:ptCount val="1"/>
                <c:pt idx="0">
                  <c:v>4.000000</c:v>
                </c:pt>
              </c:numCache>
            </c:numRef>
          </c:val>
        </c:ser>
        <c:firstSliceAng val="0"/>
      </c:pieChart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688672"/>
          <c:y val="0.0533999"/>
          <c:w val="0.926133"/>
          <c:h val="0.8577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Sheet1!$B$1:$D$1</c:f>
              <c:strCache>
                <c:ptCount val="3"/>
                <c:pt idx="0">
                  <c:v>Nightly Sync</c:v>
                </c:pt>
                <c:pt idx="1">
                  <c:v>dbt Freshness</c:v>
                </c:pt>
                <c:pt idx="2">
                  <c:v>Dashboard Freshness</c:v>
                </c:pt>
              </c:strCache>
            </c:strRef>
          </c:cat>
          <c:val>
            <c:numRef>
              <c:f>Sheet1!$B$2:$D$2</c:f>
              <c:numCache>
                <c:ptCount val="3"/>
                <c:pt idx="0">
                  <c:v>99.000000</c:v>
                </c:pt>
                <c:pt idx="1">
                  <c:v>98.000000</c:v>
                </c:pt>
                <c:pt idx="2">
                  <c:v>99.000000</c:v>
                </c:pt>
              </c:numCache>
            </c:numRef>
          </c:val>
        </c:ser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b="0" i="0" strike="noStrike" sz="2200" u="none">
                <a:solidFill>
                  <a:srgbClr val="000000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b="0" i="0" strike="noStrike" sz="2200" u="none">
                <a:solidFill>
                  <a:srgbClr val="000000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0.5"/>
        <c:minorUnit val="0.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136573"/>
          <c:y val="0.0533999"/>
          <c:w val="0.844478"/>
          <c:h val="0.85779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Leadership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Value Score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90.000000</c:v>
                </c:pt>
              </c:numCache>
            </c:numRef>
          </c:val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Account Leads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Value Score</c:v>
                </c:pt>
              </c:strCache>
            </c:strRef>
          </c:cat>
          <c:val>
            <c:numRef>
              <c:f>Sheet1!$B$3:$B$3</c:f>
              <c:numCache>
                <c:ptCount val="1"/>
                <c:pt idx="0">
                  <c:v>88.000000</c:v>
                </c:pt>
              </c:numCache>
            </c:numRef>
          </c:val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Analysts</c:v>
                </c:pt>
              </c:strCache>
            </c:strRef>
          </c:tx>
          <c:spPr>
            <a:solidFill>
              <a:schemeClr val="accent4">
                <a:hueOff val="-461056"/>
                <a:satOff val="4338"/>
                <a:lumOff val="-10225"/>
              </a:schemeClr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Value Score</c:v>
                </c:pt>
              </c:strCache>
            </c:strRef>
          </c:cat>
          <c:val>
            <c:numRef>
              <c:f>Sheet1!$B$4:$B$4</c:f>
              <c:numCache>
                <c:ptCount val="1"/>
                <c:pt idx="0">
                  <c:v>92.000000</c:v>
                </c:pt>
              </c:numCache>
            </c:numRef>
          </c:val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Finance</c:v>
                </c:pt>
              </c:strCache>
            </c:strRef>
          </c:tx>
          <c:spPr>
            <a:solidFill>
              <a:srgbClr val="FF2600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Value Score</c:v>
                </c:pt>
              </c:strCache>
            </c:strRef>
          </c:cat>
          <c:val>
            <c:numRef>
              <c:f>Sheet1!$B$5:$B$5</c:f>
              <c:numCache>
                <c:ptCount val="1"/>
                <c:pt idx="0">
                  <c:v>80.000000</c:v>
                </c:pt>
              </c:numCache>
            </c:numRef>
          </c:val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Ops</c:v>
                </c:pt>
              </c:strCache>
            </c:strRef>
          </c:tx>
          <c:spPr>
            <a:solidFill>
              <a:srgbClr val="C24885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3400" u="none">
                    <a:solidFill>
                      <a:srgbClr val="FFFFFF"/>
                    </a:solidFill>
                    <a:latin typeface="Helvetica Neue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Value Score</c:v>
                </c:pt>
              </c:strCache>
            </c:strRef>
          </c:cat>
          <c:val>
            <c:numRef>
              <c:f>Sheet1!$B$6:$B$6</c:f>
              <c:numCache>
                <c:ptCount val="1"/>
                <c:pt idx="0">
                  <c:v>86.000000</c:v>
                </c:pt>
              </c:numCache>
            </c:numRef>
          </c:val>
        </c:ser>
        <c:gapWidth val="40"/>
        <c:overlap val="-1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b="0" i="0" strike="noStrike" sz="2200" u="none">
                <a:solidFill>
                  <a:srgbClr val="000000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numFmt formatCode="General" sourceLinked="0"/>
        <c:majorTickMark val="none"/>
        <c:minorTickMark val="none"/>
        <c:tickLblPos val="high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b="0" i="0" strike="noStrike" sz="2200" u="none">
                <a:solidFill>
                  <a:srgbClr val="000000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7.5"/>
        <c:minorUnit val="3.7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662993"/>
          <c:y val="0.0533999"/>
          <c:w val="0.896413"/>
          <c:h val="0.857799"/>
        </c:manualLayout>
      </c:layout>
      <c:lineChart>
        <c:grouping val="standar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Tenant Coverage</c:v>
                </c:pt>
              </c:strCache>
            </c:strRef>
          </c:tx>
          <c:spPr>
            <a:solidFill>
              <a:srgbClr val="FFFFFF"/>
            </a:solidFill>
            <a:ln w="76200" cap="flat">
              <a:solidFill>
                <a:schemeClr val="accent1"/>
              </a:solidFill>
              <a:prstDash val="solid"/>
              <a:miter lim="400000"/>
            </a:ln>
            <a:effectLst/>
          </c:spPr>
          <c:marker>
            <c:symbol val="none"/>
            <c:size val="6"/>
            <c:spPr>
              <a:solidFill>
                <a:srgbClr val="FFFFFF"/>
              </a:solidFill>
              <a:ln w="76200" cap="flat">
                <a:solidFill>
                  <a:schemeClr val="accent1"/>
                </a:solidFill>
                <a:prstDash val="solid"/>
                <a:miter lim="400000"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24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Sheet1!$B$1:$D$1</c:f>
              <c:strCache>
                <c:ptCount val="3"/>
                <c:pt idx="0">
                  <c:v>Day 30</c:v>
                </c:pt>
                <c:pt idx="1">
                  <c:v>Day 60</c:v>
                </c:pt>
                <c:pt idx="2">
                  <c:v>Day 90</c:v>
                </c:pt>
              </c:strCache>
            </c:strRef>
          </c:cat>
          <c:val>
            <c:numRef>
              <c:f>Sheet1!$B$2:$D$2</c:f>
              <c:numCache>
                <c:ptCount val="3"/>
                <c:pt idx="0">
                  <c:v>20.000000</c:v>
                </c:pt>
                <c:pt idx="1">
                  <c:v>55.000000</c:v>
                </c:pt>
                <c:pt idx="2">
                  <c:v>90.000000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b="0" i="0" strike="noStrike" sz="2200" u="none">
                <a:solidFill>
                  <a:srgbClr val="000000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b="0" i="0" strike="noStrike" sz="2200" u="none">
                <a:solidFill>
                  <a:srgbClr val="000000"/>
                </a:solidFill>
                <a:latin typeface="Helvetica Neue"/>
              </a:defRPr>
            </a:pPr>
          </a:p>
        </c:txPr>
        <c:crossAx val="2094734552"/>
        <c:crosses val="autoZero"/>
        <c:crossBetween val="midCat"/>
        <c:majorUnit val="22.5"/>
        <c:minorUnit val="11.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5" name="Shape 13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270000" y="50419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iew of beach and sea from a grassy sand dune"/>
          <p:cNvSpPr/>
          <p:nvPr>
            <p:ph type="pic" idx="21"/>
          </p:nvPr>
        </p:nvSpPr>
        <p:spPr>
          <a:xfrm>
            <a:off x="1625600" y="374650"/>
            <a:ext cx="9753600" cy="6502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quarter" idx="1"/>
          </p:nvPr>
        </p:nvSpPr>
        <p:spPr>
          <a:xfrm>
            <a:off x="1270000" y="81534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Heron flying low over a beach with a short fence in the foreground"/>
          <p:cNvSpPr/>
          <p:nvPr>
            <p:ph type="pic" idx="21"/>
          </p:nvPr>
        </p:nvSpPr>
        <p:spPr>
          <a:xfrm>
            <a:off x="6375400" y="635000"/>
            <a:ext cx="8216900" cy="8216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39" name="Title Text"/>
          <p:cNvSpPr txBox="1"/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quarter" idx="1"/>
          </p:nvPr>
        </p:nvSpPr>
        <p:spPr>
          <a:xfrm>
            <a:off x="952500" y="4724400"/>
            <a:ext cx="5334000" cy="41148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7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andy path between two hills leading to the ocean"/>
          <p:cNvSpPr/>
          <p:nvPr>
            <p:ph type="pic" idx="21"/>
          </p:nvPr>
        </p:nvSpPr>
        <p:spPr>
          <a:xfrm>
            <a:off x="3810000" y="2590800"/>
            <a:ext cx="9429750" cy="6286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6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7" name="Body Level One…"/>
          <p:cNvSpPr txBox="1"/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6" name="Body Level One…"/>
          <p:cNvSpPr txBox="1"/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85" name="Body Level One…"/>
          <p:cNvSpPr txBox="1"/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Body Level One…"/>
          <p:cNvSpPr txBox="1"/>
          <p:nvPr>
            <p:ph type="body" idx="1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andy path between two hills leading to the ocean"/>
          <p:cNvSpPr/>
          <p:nvPr>
            <p:ph type="pic" sz="quarter" idx="21"/>
          </p:nvPr>
        </p:nvSpPr>
        <p:spPr>
          <a:xfrm>
            <a:off x="6556375" y="5092700"/>
            <a:ext cx="565785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2" name="Heron flying low over a beach with a short fence in the foreground"/>
          <p:cNvSpPr/>
          <p:nvPr>
            <p:ph type="pic" sz="half" idx="22"/>
          </p:nvPr>
        </p:nvSpPr>
        <p:spPr>
          <a:xfrm>
            <a:off x="6718300" y="749300"/>
            <a:ext cx="5334000" cy="5334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3" name="View of beach and sea from a grassy sand dune"/>
          <p:cNvSpPr/>
          <p:nvPr>
            <p:ph type="pic" idx="23"/>
          </p:nvPr>
        </p:nvSpPr>
        <p:spPr>
          <a:xfrm>
            <a:off x="-2832100" y="889000"/>
            <a:ext cx="11963400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–Johnny Appleseed"/>
          <p:cNvSpPr txBox="1"/>
          <p:nvPr>
            <p:ph type="body" sz="quarter" idx="21"/>
          </p:nvPr>
        </p:nvSpPr>
        <p:spPr>
          <a:xfrm>
            <a:off x="1270000" y="6362700"/>
            <a:ext cx="10464800" cy="461366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i="1" sz="2400"/>
            </a:lvl1pPr>
          </a:lstStyle>
          <a:p>
            <a:pPr/>
            <a:r>
              <a:t>–Johnny Appleseed</a:t>
            </a:r>
          </a:p>
        </p:txBody>
      </p:sp>
      <p:sp>
        <p:nvSpPr>
          <p:cNvPr id="112" name="“Type a quote here.”"/>
          <p:cNvSpPr txBox="1"/>
          <p:nvPr>
            <p:ph type="body" sz="quarter" idx="22"/>
          </p:nvPr>
        </p:nvSpPr>
        <p:spPr>
          <a:xfrm>
            <a:off x="1270000" y="4267112"/>
            <a:ext cx="10464800" cy="609776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4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“Type a quote here.” </a:t>
            </a:r>
          </a:p>
        </p:txBody>
      </p:sp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View of beach and sea from a grassy sand dune"/>
          <p:cNvSpPr/>
          <p:nvPr>
            <p:ph type="pic" idx="21"/>
          </p:nvPr>
        </p:nvSpPr>
        <p:spPr>
          <a:xfrm>
            <a:off x="-1308100" y="-50800"/>
            <a:ext cx="14782800" cy="9855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52500" y="2540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952500" y="259080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transition xmlns:p14="http://schemas.microsoft.com/office/powerpoint/2010/main" spd="med" advClick="1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4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ADinsights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ADinsights</a:t>
            </a:r>
          </a:p>
        </p:txBody>
      </p:sp>
      <p:sp>
        <p:nvSpPr>
          <p:cNvPr id="138" name="Stakeholder Briefing: Why this app matters and how it drives decisions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3404"/>
            </a:lvl1pPr>
          </a:lstStyle>
          <a:p>
            <a:pPr/>
            <a:r>
              <a:t>Stakeholder Briefing: Why this app matters and how it drives decisions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he Problem We Solv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Problem We Solve</a:t>
            </a:r>
          </a:p>
        </p:txBody>
      </p:sp>
      <p:sp>
        <p:nvSpPr>
          <p:cNvPr id="141" name="Campaign data is fragmented across Meta and Google interface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Campaign data is fragmented across Meta and Google interfaces</a:t>
            </a:r>
          </a:p>
          <a:p>
            <a:pPr/>
            <a:r>
              <a:t>Teams spend hours reconciling exports before every client review</a:t>
            </a:r>
          </a:p>
          <a:p>
            <a:pPr/>
            <a:r>
              <a:t>Leaders get delayed performance visibility</a:t>
            </a:r>
          </a:p>
          <a:p>
            <a:pPr/>
            <a:r>
              <a:t>Ops teams often detect stale data after it impacts reporting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Who Needs Thi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Who Needs This</a:t>
            </a:r>
          </a:p>
        </p:txBody>
      </p:sp>
      <p:sp>
        <p:nvSpPr>
          <p:cNvPr id="144" name="Agency leadership: portfolio visibility and growth confidenc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431165" indent="-431165" defTabSz="566674">
              <a:spcBef>
                <a:spcPts val="4000"/>
              </a:spcBef>
              <a:defRPr sz="3104"/>
            </a:pPr>
            <a:r>
              <a:t>Agency leadership: portfolio visibility and growth confidence</a:t>
            </a:r>
          </a:p>
          <a:p>
            <a:pPr marL="431165" indent="-431165" defTabSz="566674">
              <a:spcBef>
                <a:spcPts val="4000"/>
              </a:spcBef>
              <a:defRPr sz="3104"/>
            </a:pPr>
            <a:r>
              <a:t>Account and client success leads: faster weekly and monthly reporting</a:t>
            </a:r>
          </a:p>
          <a:p>
            <a:pPr marL="431165" indent="-431165" defTabSz="566674">
              <a:spcBef>
                <a:spcPts val="4000"/>
              </a:spcBef>
              <a:defRPr sz="3104"/>
            </a:pPr>
            <a:r>
              <a:t>Analysts and media buyers: optimization-ready drill-downs</a:t>
            </a:r>
          </a:p>
          <a:p>
            <a:pPr marL="431165" indent="-431165" defTabSz="566674">
              <a:spcBef>
                <a:spcPts val="4000"/>
              </a:spcBef>
              <a:defRPr sz="3104"/>
            </a:pPr>
            <a:r>
              <a:t>Finance and revenue ops: standardized spend and outcome views</a:t>
            </a:r>
          </a:p>
          <a:p>
            <a:pPr marL="431165" indent="-431165" defTabSz="566674">
              <a:spcBef>
                <a:spcPts val="4000"/>
              </a:spcBef>
              <a:defRPr sz="3104"/>
            </a:pPr>
            <a:r>
              <a:t>Ops, security, and engineering: reliable, tenant-safe delivery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How ADinsights Work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How ADinsights Works</a:t>
            </a:r>
          </a:p>
        </p:txBody>
      </p:sp>
      <p:sp>
        <p:nvSpPr>
          <p:cNvPr id="147" name="Airbyte ingests source platform metrics on schedul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Airbyte ingests source platform metrics on schedule</a:t>
            </a:r>
          </a:p>
          <a:p>
            <a:pPr/>
            <a:r>
              <a:t>dbt normalizes staging and mart models with shared metric definitions</a:t>
            </a:r>
          </a:p>
          <a:p>
            <a:pPr/>
            <a:r>
              <a:t>Django API serves tenant-scoped aggregated snapshots</a:t>
            </a:r>
          </a:p>
          <a:p>
            <a:pPr/>
            <a:r>
              <a:t>React dashboards present KPI cards, trends, tables, and geo maps</a:t>
            </a:r>
          </a:p>
          <a:p>
            <a:pPr/>
            <a:r>
              <a:t>Health checks and telemetry expose freshness and sync status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apability Maturity Snapshot"/>
          <p:cNvSpPr txBox="1"/>
          <p:nvPr/>
        </p:nvSpPr>
        <p:spPr>
          <a:xfrm>
            <a:off x="762000" y="475589"/>
            <a:ext cx="11430000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Capability Maturity Snapshot</a:t>
            </a:r>
          </a:p>
        </p:txBody>
      </p:sp>
      <p:sp>
        <p:nvSpPr>
          <p:cNvPr id="150" name="Current capability areas in ADinsights"/>
          <p:cNvSpPr txBox="1"/>
          <p:nvPr/>
        </p:nvSpPr>
        <p:spPr>
          <a:xfrm>
            <a:off x="762000" y="1116939"/>
            <a:ext cx="11430000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Current capability areas in ADinsights</a:t>
            </a:r>
          </a:p>
        </p:txBody>
      </p:sp>
      <p:graphicFrame>
        <p:nvGraphicFramePr>
          <p:cNvPr id="151" name="2D Pie Chart"/>
          <p:cNvGraphicFramePr/>
          <p:nvPr/>
        </p:nvGraphicFramePr>
        <p:xfrm>
          <a:off x="1143000" y="1905000"/>
          <a:ext cx="5461000" cy="5461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Operational Reliability Targets"/>
          <p:cNvSpPr txBox="1"/>
          <p:nvPr/>
        </p:nvSpPr>
        <p:spPr>
          <a:xfrm>
            <a:off x="762000" y="475589"/>
            <a:ext cx="11430000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Operational Reliability Targets</a:t>
            </a:r>
          </a:p>
        </p:txBody>
      </p:sp>
      <p:sp>
        <p:nvSpPr>
          <p:cNvPr id="154" name="SLA and freshness targets aligned to stakeholder reporting needs"/>
          <p:cNvSpPr txBox="1"/>
          <p:nvPr/>
        </p:nvSpPr>
        <p:spPr>
          <a:xfrm>
            <a:off x="762000" y="634339"/>
            <a:ext cx="11430000" cy="1055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SLA and freshness targets aligned to stakeholder reporting needs</a:t>
            </a:r>
          </a:p>
        </p:txBody>
      </p:sp>
      <p:graphicFrame>
        <p:nvGraphicFramePr>
          <p:cNvPr id="155" name="2D Column Chart"/>
          <p:cNvGraphicFramePr/>
          <p:nvPr/>
        </p:nvGraphicFramePr>
        <p:xfrm>
          <a:off x="353988" y="1569923"/>
          <a:ext cx="11457013" cy="627485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takeholder Value Impact"/>
          <p:cNvSpPr txBox="1"/>
          <p:nvPr/>
        </p:nvSpPr>
        <p:spPr>
          <a:xfrm>
            <a:off x="761999" y="475589"/>
            <a:ext cx="11430001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Stakeholder Value Impact</a:t>
            </a:r>
          </a:p>
        </p:txBody>
      </p:sp>
      <p:sp>
        <p:nvSpPr>
          <p:cNvPr id="158" name="Illustrative value score by role (higher is better)"/>
          <p:cNvSpPr txBox="1"/>
          <p:nvPr/>
        </p:nvSpPr>
        <p:spPr>
          <a:xfrm>
            <a:off x="762000" y="1116939"/>
            <a:ext cx="11430000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Illustrative value score by role (higher is better)</a:t>
            </a:r>
          </a:p>
        </p:txBody>
      </p:sp>
      <p:graphicFrame>
        <p:nvGraphicFramePr>
          <p:cNvPr id="159" name="2D Bar Chart"/>
          <p:cNvGraphicFramePr/>
          <p:nvPr/>
        </p:nvGraphicFramePr>
        <p:xfrm>
          <a:off x="-582282" y="1569923"/>
          <a:ext cx="12632652" cy="627485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90-Day Adoption Path"/>
          <p:cNvSpPr txBox="1"/>
          <p:nvPr/>
        </p:nvSpPr>
        <p:spPr>
          <a:xfrm>
            <a:off x="762000" y="475589"/>
            <a:ext cx="11430001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90-Day Adoption Path</a:t>
            </a:r>
          </a:p>
        </p:txBody>
      </p:sp>
      <p:sp>
        <p:nvSpPr>
          <p:cNvPr id="162" name="Target tenant coverage after rollout kickoff"/>
          <p:cNvSpPr txBox="1"/>
          <p:nvPr/>
        </p:nvSpPr>
        <p:spPr>
          <a:xfrm>
            <a:off x="762000" y="1116939"/>
            <a:ext cx="11430000" cy="57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Target tenant coverage after rollout kickoff</a:t>
            </a:r>
          </a:p>
        </p:txBody>
      </p:sp>
      <p:graphicFrame>
        <p:nvGraphicFramePr>
          <p:cNvPr id="163" name="2D Line Chart"/>
          <p:cNvGraphicFramePr/>
          <p:nvPr/>
        </p:nvGraphicFramePr>
        <p:xfrm>
          <a:off x="353988" y="1569923"/>
          <a:ext cx="11900763" cy="627485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ecurity and Governan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pPr/>
            <a:r>
              <a:t>Security and Governance</a:t>
            </a:r>
          </a:p>
        </p:txBody>
      </p:sp>
      <p:sp>
        <p:nvSpPr>
          <p:cNvPr id="166" name="Aggregated advertising metrics only (no user-level PII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Aggregated advertising metrics only (no user-level PII)</a:t>
            </a:r>
          </a:p>
          <a:p>
            <a:pPr/>
            <a:r>
              <a:t>Per-tenant secret encryption with AES-GCM and KMS-backed key strategy</a:t>
            </a:r>
          </a:p>
          <a:p>
            <a:pPr/>
            <a:r>
              <a:t>Tenant isolation guardrails enforced across ingestion, API, and UI</a:t>
            </a:r>
          </a:p>
          <a:p>
            <a:pPr/>
            <a:r>
              <a:t>Structured telemetry for incident triage and auditability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isk Managemen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Risk Management</a:t>
            </a:r>
          </a:p>
        </p:txBody>
      </p:sp>
      <p:sp>
        <p:nvSpPr>
          <p:cNvPr id="169" name="Data quality regression risk: dbt tests plus checklist-based validatio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Data quality regression risk: dbt tests plus checklist-based validation</a:t>
            </a:r>
          </a:p>
          <a:p>
            <a:pPr/>
            <a:r>
              <a:t>Snapshot staleness risk: freshness alerts and runbook response</a:t>
            </a:r>
          </a:p>
          <a:p>
            <a:pPr/>
            <a:r>
              <a:t>Connector coverage risk: phased roadmap for additional platforms</a:t>
            </a:r>
          </a:p>
          <a:p>
            <a:pPr/>
            <a:r>
              <a:t>Secrets exposure risk: encryption, log scrubbing, and access controls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ommended Demo Flow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02412">
              <a:defRPr sz="6880"/>
            </a:lvl1pPr>
          </a:lstStyle>
          <a:p>
            <a:pPr/>
            <a:r>
              <a:t>Recommended Demo Flow</a:t>
            </a:r>
          </a:p>
        </p:txBody>
      </p:sp>
      <p:sp>
        <p:nvSpPr>
          <p:cNvPr id="172" name="1) Leadership view: KPI and pacing overview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1) Leadership view: KPI and pacing overview</a:t>
            </a:r>
          </a:p>
          <a:p>
            <a:pPr/>
            <a:r>
              <a:t>2) Account lead view: tenant switch and report posture</a:t>
            </a:r>
          </a:p>
          <a:p>
            <a:pPr/>
            <a:r>
              <a:t>3) Analyst view: filters, trends, campaign and creative drill-down</a:t>
            </a:r>
          </a:p>
          <a:p>
            <a:pPr/>
            <a:r>
              <a:t>4) Ops view: freshness indicator and sync telemetry</a:t>
            </a:r>
          </a:p>
          <a:p>
            <a:pPr/>
            <a:r>
              <a:t>5) Security view: tenant and encryption controls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Decision Ask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Decision Asks</a:t>
            </a:r>
          </a:p>
        </p:txBody>
      </p:sp>
      <p:sp>
        <p:nvSpPr>
          <p:cNvPr id="175" name="Approve pilot tenant list and baseline success metric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Approve pilot tenant list and baseline success metrics</a:t>
            </a:r>
          </a:p>
          <a:p>
            <a:pPr/>
            <a:r>
              <a:t>Confirm weekly operating cadence across leadership, account, and analyst roles</a:t>
            </a:r>
          </a:p>
          <a:p>
            <a:pPr/>
            <a:r>
              <a:t>Assign owners for reliability escalation and stakeholder communications</a:t>
            </a:r>
          </a:p>
          <a:p>
            <a:pPr/>
            <a:r>
              <a:t>Prioritize next-wave scope: connector expansion and advanced reporting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