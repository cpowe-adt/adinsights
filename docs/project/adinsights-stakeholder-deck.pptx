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584200" rtl="0" fontAlgn="auto" latinLnBrk="0" hangingPunct="0">
      <a:lnSpc>
        <a:spcPct val="100000"/>
      </a:lnSpc>
      <a:spcBef>
        <a:spcPts val="420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457200" algn="l" defTabSz="584200" rtl="0" fontAlgn="auto" latinLnBrk="0" hangingPunct="0">
      <a:lnSpc>
        <a:spcPct val="100000"/>
      </a:lnSpc>
      <a:spcBef>
        <a:spcPts val="420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914400" algn="l" defTabSz="584200" rtl="0" fontAlgn="auto" latinLnBrk="0" hangingPunct="0">
      <a:lnSpc>
        <a:spcPct val="100000"/>
      </a:lnSpc>
      <a:spcBef>
        <a:spcPts val="420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1371600" algn="l" defTabSz="584200" rtl="0" fontAlgn="auto" latinLnBrk="0" hangingPunct="0">
      <a:lnSpc>
        <a:spcPct val="100000"/>
      </a:lnSpc>
      <a:spcBef>
        <a:spcPts val="420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1828800" algn="l" defTabSz="584200" rtl="0" fontAlgn="auto" latinLnBrk="0" hangingPunct="0">
      <a:lnSpc>
        <a:spcPct val="100000"/>
      </a:lnSpc>
      <a:spcBef>
        <a:spcPts val="420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2286000" algn="l" defTabSz="584200" rtl="0" fontAlgn="auto" latinLnBrk="0" hangingPunct="0">
      <a:lnSpc>
        <a:spcPct val="100000"/>
      </a:lnSpc>
      <a:spcBef>
        <a:spcPts val="420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2743200" algn="l" defTabSz="584200" rtl="0" fontAlgn="auto" latinLnBrk="0" hangingPunct="0">
      <a:lnSpc>
        <a:spcPct val="100000"/>
      </a:lnSpc>
      <a:spcBef>
        <a:spcPts val="420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3200400" algn="l" defTabSz="584200" rtl="0" fontAlgn="auto" latinLnBrk="0" hangingPunct="0">
      <a:lnSpc>
        <a:spcPct val="100000"/>
      </a:lnSpc>
      <a:spcBef>
        <a:spcPts val="420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3657600" algn="l" defTabSz="584200" rtl="0" fontAlgn="auto" latinLnBrk="0" hangingPunct="0">
      <a:lnSpc>
        <a:spcPct val="100000"/>
      </a:lnSpc>
      <a:spcBef>
        <a:spcPts val="420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 b="def" i="def"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 b="def" i="def"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 b="def" i="def"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
</file>

<file path=ppt/charts/_rels/chart1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1.xlsx"/></Relationships>

</file>

<file path=ppt/charts/_rels/chart2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2.xlsx"/></Relationships>

</file>

<file path=ppt/charts/_rels/chart3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3.xlsx"/></Relationships>

</file>

<file path=ppt/charts/_rels/chart4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4.xlsx"/></Relationships>
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05"/>
          <c:y val="0.005"/>
          <c:w val="0.99"/>
          <c:h val="0.9875"/>
        </c:manualLayout>
      </c:layout>
      <c:pieChart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Built</c:v>
                </c:pt>
              </c:strCache>
            </c:strRef>
          </c:tx>
          <c:spPr>
            <a:solidFill>
              <a:schemeClr val="accent1"/>
            </a:solidFill>
            <a:ln w="12700" cap="flat">
              <a:noFill/>
              <a:miter lim="400000"/>
            </a:ln>
            <a:effectLst/>
          </c:spPr>
          <c:explosion val="0"/>
          <c:dPt>
            <c:idx val="0"/>
            <c:explosion val="0"/>
            <c:spPr>
              <a:solidFill>
                <a:schemeClr val="accent1"/>
              </a:solidFill>
              <a:ln w="12700" cap="flat">
                <a:noFill/>
                <a:miter lim="400000"/>
              </a:ln>
              <a:effectLst/>
            </c:spPr>
          </c:dPt>
          <c:dLbls>
            <c:dLbl>
              <c:idx val="0"/>
              <c:numFmt formatCode="#,##0%" sourceLinked="0"/>
              <c:txPr>
                <a:bodyPr/>
                <a:lstStyle/>
                <a:p>
                  <a:pPr>
                    <a:defRPr b="0" i="0" strike="noStrike" sz="3400" u="none">
                      <a:solidFill>
                        <a:srgbClr val="FFFFFF"/>
                      </a:solidFill>
                      <a:latin typeface="Helvetica Neue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#,##0%" sourceLinked="0"/>
            <c:txPr>
              <a:bodyPr/>
              <a:lstStyle/>
              <a:p>
                <a:pPr>
                  <a:defRPr b="0" i="0" strike="noStrike" sz="3400" u="none">
                    <a:solidFill>
                      <a:srgbClr val="FFFFFF"/>
                    </a:solidFill>
                    <a:latin typeface="Helvetica Neue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noFill/>
                <a:ln w="6350" cap="flat">
                  <a:solidFill>
                    <a:srgbClr val="000000"/>
                  </a:solidFill>
                  <a:prstDash val="solid"/>
                  <a:miter lim="400000"/>
                </a:ln>
                <a:effectLst/>
              </c:spPr>
            </c:leaderLines>
          </c:dLbls>
          <c:cat>
            <c:strRef>
              <c:f>Sheet1!$B$1:$B$1</c:f>
              <c:strCache>
                <c:ptCount val="1"/>
                <c:pt idx="0">
                  <c:v>Capability Areas</c:v>
                </c:pt>
              </c:strCache>
            </c:strRef>
          </c:cat>
          <c:val>
            <c:numRef>
              <c:f>Sheet1!$B$2:$B$2</c:f>
              <c:numCache>
                <c:ptCount val="1"/>
                <c:pt idx="0">
                  <c:v>6.000000</c:v>
                </c:pt>
              </c:numCache>
            </c:numRef>
          </c:val>
        </c:ser>
        <c:ser>
          <c:idx val="0"/>
          <c:order val="1"/>
          <c:tx>
            <c:strRef>
              <c:f>Sheet1!$A$3</c:f>
              <c:strCache>
                <c:ptCount val="1"/>
                <c:pt idx="1">
                  <c:v>In Progress</c:v>
                </c:pt>
              </c:strCache>
            </c:strRef>
          </c:tx>
          <c:spPr>
            <a:solidFill>
              <a:schemeClr val="accent1"/>
            </a:solidFill>
            <a:ln w="12700" cap="flat">
              <a:noFill/>
              <a:miter lim="400000"/>
            </a:ln>
            <a:effectLst/>
          </c:spPr>
          <c:explosion val="0"/>
          <c:dPt>
            <c:idx val="0"/>
            <c:explosion val="0"/>
            <c:spPr>
              <a:solidFill>
                <a:schemeClr val="accent1"/>
              </a:solidFill>
              <a:ln w="12700" cap="flat">
                <a:noFill/>
                <a:miter lim="400000"/>
              </a:ln>
              <a:effectLst/>
            </c:spPr>
          </c:dPt>
          <c:dLbls>
            <c:dLbl>
              <c:idx val="0"/>
              <c:numFmt formatCode="#,##0%" sourceLinked="0"/>
              <c:txPr>
                <a:bodyPr/>
                <a:lstStyle/>
                <a:p>
                  <a:pPr>
                    <a:defRPr b="0" i="0" strike="noStrike" sz="3400" u="none">
                      <a:solidFill>
                        <a:srgbClr val="FFFFFF"/>
                      </a:solidFill>
                      <a:latin typeface="Helvetica Neue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#,##0%" sourceLinked="0"/>
            <c:txPr>
              <a:bodyPr/>
              <a:lstStyle/>
              <a:p>
                <a:pPr>
                  <a:defRPr b="0" i="0" strike="noStrike" sz="3400" u="none">
                    <a:solidFill>
                      <a:srgbClr val="FFFFFF"/>
                    </a:solidFill>
                    <a:latin typeface="Helvetica Neue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noFill/>
                <a:ln w="6350" cap="flat">
                  <a:solidFill>
                    <a:srgbClr val="000000"/>
                  </a:solidFill>
                  <a:prstDash val="solid"/>
                  <a:miter lim="400000"/>
                </a:ln>
                <a:effectLst/>
              </c:spPr>
            </c:leaderLines>
          </c:dLbls>
          <c:cat>
            <c:strRef>
              <c:f>Sheet1!$B$1:$B$1</c:f>
              <c:strCache>
                <c:ptCount val="1"/>
                <c:pt idx="0">
                  <c:v>Capability Areas</c:v>
                </c:pt>
              </c:strCache>
            </c:strRef>
          </c:cat>
          <c:val>
            <c:numRef>
              <c:f>Sheet1!$B$3:$B$3</c:f>
              <c:numCache>
                <c:ptCount val="1"/>
                <c:pt idx="0">
                  <c:v>2.000000</c:v>
                </c:pt>
              </c:numCache>
            </c:numRef>
          </c:val>
        </c:ser>
        <c:ser>
          <c:idx val="0"/>
          <c:order val="2"/>
          <c:tx>
            <c:strRef>
              <c:f>Sheet1!$A$4</c:f>
              <c:strCache>
                <c:ptCount val="1"/>
                <c:pt idx="2">
                  <c:v>Planned</c:v>
                </c:pt>
              </c:strCache>
            </c:strRef>
          </c:tx>
          <c:spPr>
            <a:solidFill>
              <a:schemeClr val="accent1"/>
            </a:solidFill>
            <a:ln w="12700" cap="flat">
              <a:noFill/>
              <a:miter lim="400000"/>
            </a:ln>
            <a:effectLst/>
          </c:spPr>
          <c:explosion val="0"/>
          <c:dPt>
            <c:idx val="0"/>
            <c:explosion val="0"/>
            <c:spPr>
              <a:solidFill>
                <a:schemeClr val="accent1"/>
              </a:solidFill>
              <a:ln w="12700" cap="flat">
                <a:noFill/>
                <a:miter lim="400000"/>
              </a:ln>
              <a:effectLst/>
            </c:spPr>
          </c:dPt>
          <c:dLbls>
            <c:dLbl>
              <c:idx val="0"/>
              <c:numFmt formatCode="#,##0%" sourceLinked="0"/>
              <c:txPr>
                <a:bodyPr/>
                <a:lstStyle/>
                <a:p>
                  <a:pPr>
                    <a:defRPr b="0" i="0" strike="noStrike" sz="3400" u="none">
                      <a:solidFill>
                        <a:srgbClr val="FFFFFF"/>
                      </a:solidFill>
                      <a:latin typeface="Helvetica Neue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#,##0%" sourceLinked="0"/>
            <c:txPr>
              <a:bodyPr/>
              <a:lstStyle/>
              <a:p>
                <a:pPr>
                  <a:defRPr b="0" i="0" strike="noStrike" sz="3400" u="none">
                    <a:solidFill>
                      <a:srgbClr val="FFFFFF"/>
                    </a:solidFill>
                    <a:latin typeface="Helvetica Neue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noFill/>
                <a:ln w="6350" cap="flat">
                  <a:solidFill>
                    <a:srgbClr val="000000"/>
                  </a:solidFill>
                  <a:prstDash val="solid"/>
                  <a:miter lim="400000"/>
                </a:ln>
                <a:effectLst/>
              </c:spPr>
            </c:leaderLines>
          </c:dLbls>
          <c:cat>
            <c:strRef>
              <c:f>Sheet1!$B$1:$B$1</c:f>
              <c:strCache>
                <c:ptCount val="1"/>
                <c:pt idx="0">
                  <c:v>Capability Areas</c:v>
                </c:pt>
              </c:strCache>
            </c:strRef>
          </c:cat>
          <c:val>
            <c:numRef>
              <c:f>Sheet1!$B$4:$B$4</c:f>
              <c:numCache>
                <c:ptCount val="1"/>
                <c:pt idx="0">
                  <c:v>4.000000</c:v>
                </c:pt>
              </c:numCache>
            </c:numRef>
          </c:val>
        </c:ser>
        <c:firstSliceAng val="0"/>
      </c:pieChart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693283"/>
          <c:y val="0.0533999"/>
          <c:w val="0.925672"/>
          <c:h val="0.85779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chemeClr val="accent1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3400" u="none">
                    <a:solidFill>
                      <a:srgbClr val="FFFFFF"/>
                    </a:solidFill>
                    <a:latin typeface="Helvetica Neue"/>
                  </a:defRPr>
                </a:pPr>
              </a:p>
            </c:txPr>
            <c:dLblPos val="in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Sheet1!$B$1:$D$1</c:f>
              <c:strCache>
                <c:ptCount val="3"/>
                <c:pt idx="0">
                  <c:v>Nightly Sync</c:v>
                </c:pt>
                <c:pt idx="1">
                  <c:v>dbt Freshness</c:v>
                </c:pt>
                <c:pt idx="2">
                  <c:v>Dashboard Freshness</c:v>
                </c:pt>
              </c:strCache>
            </c:strRef>
          </c:cat>
          <c:val>
            <c:numRef>
              <c:f>Sheet1!$B$2:$D$2</c:f>
              <c:numCache>
                <c:ptCount val="3"/>
                <c:pt idx="0">
                  <c:v>99.000000</c:v>
                </c:pt>
                <c:pt idx="1">
                  <c:v>98.000000</c:v>
                </c:pt>
                <c:pt idx="2">
                  <c:v>99.000000</c:v>
                </c:pt>
              </c:numCache>
            </c:numRef>
          </c:val>
        </c:ser>
        <c:gapWidth val="40"/>
        <c:overlap val="-10"/>
        <c:axId val="2094734552"/>
        <c:axId val="2094734553"/>
      </c:bar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2700" cap="flat">
            <a:solidFill>
              <a:srgbClr val="000000"/>
            </a:solidFill>
            <a:prstDash val="solid"/>
            <a:miter lim="400000"/>
          </a:ln>
        </c:spPr>
        <c:txPr>
          <a:bodyPr rot="0"/>
          <a:lstStyle/>
          <a:p>
            <a:pPr>
              <a:defRPr b="0" i="0" strike="noStrike" sz="2200" u="none">
                <a:solidFill>
                  <a:srgbClr val="000000"/>
                </a:solidFill>
                <a:latin typeface="Helvetica Neue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B8B8B8"/>
              </a:solidFill>
              <a:prstDash val="solid"/>
              <a:miter lim="400000"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000000"/>
            </a:solidFill>
            <a:prstDash val="solid"/>
            <a:miter lim="400000"/>
          </a:ln>
        </c:spPr>
        <c:txPr>
          <a:bodyPr rot="0"/>
          <a:lstStyle/>
          <a:p>
            <a:pPr>
              <a:defRPr b="0" i="0" strike="noStrike" sz="2200" u="none">
                <a:solidFill>
                  <a:srgbClr val="000000"/>
                </a:solidFill>
                <a:latin typeface="Helvetica Neue"/>
              </a:defRPr>
            </a:pPr>
          </a:p>
        </c:txPr>
        <c:crossAx val="2094734552"/>
        <c:crosses val="autoZero"/>
        <c:crossBetween val="between"/>
        <c:majorUnit val="0.5"/>
        <c:minorUnit val="0.25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137402"/>
          <c:y val="0.0533999"/>
          <c:w val="0.843535"/>
          <c:h val="0.857799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Leadership</c:v>
                </c:pt>
              </c:strCache>
            </c:strRef>
          </c:tx>
          <c:spPr>
            <a:solidFill>
              <a:schemeClr val="accent1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3400" u="none">
                    <a:solidFill>
                      <a:srgbClr val="FFFFFF"/>
                    </a:solidFill>
                    <a:latin typeface="Helvetica Neue"/>
                  </a:defRPr>
                </a:pPr>
              </a:p>
            </c:txPr>
            <c:dLblPos val="in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Sheet1!$B$1:$B$1</c:f>
              <c:strCache>
                <c:ptCount val="1"/>
                <c:pt idx="0">
                  <c:v>Value Score</c:v>
                </c:pt>
              </c:strCache>
            </c:strRef>
          </c:cat>
          <c:val>
            <c:numRef>
              <c:f>Sheet1!$B$2:$B$2</c:f>
              <c:numCache>
                <c:ptCount val="1"/>
                <c:pt idx="0">
                  <c:v>90.000000</c:v>
                </c:pt>
              </c:numCache>
            </c:numRef>
          </c:val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Account Leads</c:v>
                </c:pt>
              </c:strCache>
            </c:strRef>
          </c:tx>
          <c:spPr>
            <a:solidFill>
              <a:schemeClr val="accent3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3400" u="none">
                    <a:solidFill>
                      <a:srgbClr val="FFFFFF"/>
                    </a:solidFill>
                    <a:latin typeface="Helvetica Neue"/>
                  </a:defRPr>
                </a:pPr>
              </a:p>
            </c:txPr>
            <c:dLblPos val="in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Sheet1!$B$1:$B$1</c:f>
              <c:strCache>
                <c:ptCount val="1"/>
                <c:pt idx="0">
                  <c:v>Value Score</c:v>
                </c:pt>
              </c:strCache>
            </c:strRef>
          </c:cat>
          <c:val>
            <c:numRef>
              <c:f>Sheet1!$B$3:$B$3</c:f>
              <c:numCache>
                <c:ptCount val="1"/>
                <c:pt idx="0">
                  <c:v>88.000000</c:v>
                </c:pt>
              </c:numCache>
            </c:numRef>
          </c:val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Analysts</c:v>
                </c:pt>
              </c:strCache>
            </c:strRef>
          </c:tx>
          <c:spPr>
            <a:solidFill>
              <a:schemeClr val="accent4">
                <a:hueOff val="-461056"/>
                <a:satOff val="4338"/>
                <a:lumOff val="-10225"/>
              </a:schemeClr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3400" u="none">
                    <a:solidFill>
                      <a:srgbClr val="FFFFFF"/>
                    </a:solidFill>
                    <a:latin typeface="Helvetica Neue"/>
                  </a:defRPr>
                </a:pPr>
              </a:p>
            </c:txPr>
            <c:dLblPos val="in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Sheet1!$B$1:$B$1</c:f>
              <c:strCache>
                <c:ptCount val="1"/>
                <c:pt idx="0">
                  <c:v>Value Score</c:v>
                </c:pt>
              </c:strCache>
            </c:strRef>
          </c:cat>
          <c:val>
            <c:numRef>
              <c:f>Sheet1!$B$4:$B$4</c:f>
              <c:numCache>
                <c:ptCount val="1"/>
                <c:pt idx="0">
                  <c:v>92.000000</c:v>
                </c:pt>
              </c:numCache>
            </c:numRef>
          </c:val>
        </c:ser>
        <c:ser>
          <c:idx val="3"/>
          <c:order val="3"/>
          <c:tx>
            <c:strRef>
              <c:f>Sheet1!$A$5</c:f>
              <c:strCache>
                <c:ptCount val="1"/>
                <c:pt idx="0">
                  <c:v>Finance</c:v>
                </c:pt>
              </c:strCache>
            </c:strRef>
          </c:tx>
          <c:spPr>
            <a:solidFill>
              <a:srgbClr val="FF2600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3400" u="none">
                    <a:solidFill>
                      <a:srgbClr val="FFFFFF"/>
                    </a:solidFill>
                    <a:latin typeface="Helvetica Neue"/>
                  </a:defRPr>
                </a:pPr>
              </a:p>
            </c:txPr>
            <c:dLblPos val="in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Sheet1!$B$1:$B$1</c:f>
              <c:strCache>
                <c:ptCount val="1"/>
                <c:pt idx="0">
                  <c:v>Value Score</c:v>
                </c:pt>
              </c:strCache>
            </c:strRef>
          </c:cat>
          <c:val>
            <c:numRef>
              <c:f>Sheet1!$B$5:$B$5</c:f>
              <c:numCache>
                <c:ptCount val="1"/>
                <c:pt idx="0">
                  <c:v>80.000000</c:v>
                </c:pt>
              </c:numCache>
            </c:numRef>
          </c:val>
        </c:ser>
        <c:ser>
          <c:idx val="4"/>
          <c:order val="4"/>
          <c:tx>
            <c:strRef>
              <c:f>Sheet1!$A$6</c:f>
              <c:strCache>
                <c:ptCount val="1"/>
                <c:pt idx="0">
                  <c:v>Ops</c:v>
                </c:pt>
              </c:strCache>
            </c:strRef>
          </c:tx>
          <c:spPr>
            <a:solidFill>
              <a:srgbClr val="C24885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3400" u="none">
                    <a:solidFill>
                      <a:srgbClr val="FFFFFF"/>
                    </a:solidFill>
                    <a:latin typeface="Helvetica Neue"/>
                  </a:defRPr>
                </a:pPr>
              </a:p>
            </c:txPr>
            <c:dLblPos val="in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Sheet1!$B$1:$B$1</c:f>
              <c:strCache>
                <c:ptCount val="1"/>
                <c:pt idx="0">
                  <c:v>Value Score</c:v>
                </c:pt>
              </c:strCache>
            </c:strRef>
          </c:cat>
          <c:val>
            <c:numRef>
              <c:f>Sheet1!$B$6:$B$6</c:f>
              <c:numCache>
                <c:ptCount val="1"/>
                <c:pt idx="0">
                  <c:v>86.000000</c:v>
                </c:pt>
              </c:numCache>
            </c:numRef>
          </c:val>
        </c:ser>
        <c:gapWidth val="40"/>
        <c:overlap val="-10"/>
        <c:axId val="2094734552"/>
        <c:axId val="2094734553"/>
      </c:barChart>
      <c:catAx>
        <c:axId val="2094734552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000000"/>
            </a:solidFill>
            <a:prstDash val="solid"/>
            <a:miter lim="400000"/>
          </a:ln>
        </c:spPr>
        <c:txPr>
          <a:bodyPr rot="0"/>
          <a:lstStyle/>
          <a:p>
            <a:pPr>
              <a:defRPr b="0" i="0" strike="noStrike" sz="2200" u="none">
                <a:solidFill>
                  <a:srgbClr val="000000"/>
                </a:solidFill>
                <a:latin typeface="Helvetica Neue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B8B8B8"/>
              </a:solidFill>
              <a:prstDash val="solid"/>
              <a:miter lim="400000"/>
            </a:ln>
          </c:spPr>
        </c:majorGridlines>
        <c:numFmt formatCode="General" sourceLinked="0"/>
        <c:majorTickMark val="none"/>
        <c:minorTickMark val="none"/>
        <c:tickLblPos val="high"/>
        <c:spPr>
          <a:ln w="12700" cap="flat">
            <a:solidFill>
              <a:srgbClr val="000000"/>
            </a:solidFill>
            <a:prstDash val="solid"/>
            <a:miter lim="400000"/>
          </a:ln>
        </c:spPr>
        <c:txPr>
          <a:bodyPr rot="0"/>
          <a:lstStyle/>
          <a:p>
            <a:pPr>
              <a:defRPr b="0" i="0" strike="noStrike" sz="2200" u="none">
                <a:solidFill>
                  <a:srgbClr val="000000"/>
                </a:solidFill>
                <a:latin typeface="Helvetica Neue"/>
              </a:defRPr>
            </a:pPr>
          </a:p>
        </c:txPr>
        <c:crossAx val="2094734552"/>
        <c:crosses val="autoZero"/>
        <c:crossBetween val="between"/>
        <c:majorUnit val="7.5"/>
        <c:minorUnit val="3.75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667265"/>
          <c:y val="0.0533999"/>
          <c:w val="0.895746"/>
          <c:h val="0.857799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Tenant Coverage</c:v>
                </c:pt>
              </c:strCache>
            </c:strRef>
          </c:tx>
          <c:spPr>
            <a:solidFill>
              <a:srgbClr val="FFFFFF"/>
            </a:solidFill>
            <a:ln w="76200" cap="flat">
              <a:solidFill>
                <a:schemeClr val="accent1"/>
              </a:solidFill>
              <a:prstDash val="solid"/>
              <a:miter lim="400000"/>
            </a:ln>
            <a:effectLst/>
          </c:spPr>
          <c:marker>
            <c:symbol val="none"/>
            <c:size val="6"/>
            <c:spPr>
              <a:solidFill>
                <a:srgbClr val="FFFFFF"/>
              </a:solidFill>
              <a:ln w="76200" cap="flat">
                <a:solidFill>
                  <a:schemeClr val="accent1"/>
                </a:solidFill>
                <a:prstDash val="solid"/>
                <a:miter lim="400000"/>
              </a:ln>
              <a:effectLst/>
            </c:spPr>
          </c:marker>
          <c:dLbls>
            <c:numFmt formatCode="#,##0" sourceLinked="0"/>
            <c:txPr>
              <a:bodyPr/>
              <a:lstStyle/>
              <a:p>
                <a:pPr>
                  <a:defRPr b="0" i="0" strike="noStrike" sz="2400" u="none">
                    <a:solidFill>
                      <a:srgbClr val="000000"/>
                    </a:solidFill>
                    <a:latin typeface="Helvetica Neue"/>
                  </a:defRPr>
                </a:pPr>
              </a:p>
            </c:txPr>
            <c:dLblPos val="b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Sheet1!$B$1:$D$1</c:f>
              <c:strCache>
                <c:ptCount val="3"/>
                <c:pt idx="0">
                  <c:v>Day 30</c:v>
                </c:pt>
                <c:pt idx="1">
                  <c:v>Day 60</c:v>
                </c:pt>
                <c:pt idx="2">
                  <c:v>Day 90</c:v>
                </c:pt>
              </c:strCache>
            </c:strRef>
          </c:cat>
          <c:val>
            <c:numRef>
              <c:f>Sheet1!$B$2:$D$2</c:f>
              <c:numCache>
                <c:ptCount val="3"/>
                <c:pt idx="0">
                  <c:v>20.000000</c:v>
                </c:pt>
                <c:pt idx="1">
                  <c:v>55.000000</c:v>
                </c:pt>
                <c:pt idx="2">
                  <c:v>90.000000</c:v>
                </c:pt>
              </c:numCache>
            </c:numRef>
          </c:val>
          <c:smooth val="0"/>
        </c:ser>
        <c:marker val="1"/>
        <c:axId val="2094734552"/>
        <c:axId val="2094734553"/>
      </c:line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2700" cap="flat">
            <a:solidFill>
              <a:srgbClr val="000000"/>
            </a:solidFill>
            <a:prstDash val="solid"/>
            <a:miter lim="400000"/>
          </a:ln>
        </c:spPr>
        <c:txPr>
          <a:bodyPr rot="0"/>
          <a:lstStyle/>
          <a:p>
            <a:pPr>
              <a:defRPr b="0" i="0" strike="noStrike" sz="2200" u="none">
                <a:solidFill>
                  <a:srgbClr val="000000"/>
                </a:solidFill>
                <a:latin typeface="Helvetica Neue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B8B8B8"/>
              </a:solidFill>
              <a:prstDash val="solid"/>
              <a:miter lim="400000"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000000"/>
            </a:solidFill>
            <a:prstDash val="solid"/>
            <a:miter lim="400000"/>
          </a:ln>
        </c:spPr>
        <c:txPr>
          <a:bodyPr rot="0"/>
          <a:lstStyle/>
          <a:p>
            <a:pPr>
              <a:defRPr b="0" i="0" strike="noStrike" sz="2200" u="none">
                <a:solidFill>
                  <a:srgbClr val="000000"/>
                </a:solidFill>
                <a:latin typeface="Helvetica Neue"/>
              </a:defRPr>
            </a:pPr>
          </a:p>
        </c:txPr>
        <c:crossAx val="2094734552"/>
        <c:crosses val="autoZero"/>
        <c:crossBetween val="midCat"/>
        <c:majorUnit val="22.5"/>
        <c:minorUnit val="11.25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134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35" name="Shape 135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1270000" y="1638300"/>
            <a:ext cx="10464800" cy="3302000"/>
          </a:xfrm>
          <a:prstGeom prst="rect">
            <a:avLst/>
          </a:prstGeom>
        </p:spPr>
        <p:txBody>
          <a:bodyPr anchor="b"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270000" y="5041900"/>
            <a:ext cx="10464800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700"/>
            </a:lvl1pPr>
            <a:lvl2pPr marL="0" indent="0" algn="ctr">
              <a:spcBef>
                <a:spcPts val="0"/>
              </a:spcBef>
              <a:buSzTx/>
              <a:buNone/>
              <a:defRPr sz="3700"/>
            </a:lvl2pPr>
            <a:lvl3pPr marL="0" indent="0" algn="ctr">
              <a:spcBef>
                <a:spcPts val="0"/>
              </a:spcBef>
              <a:buSzTx/>
              <a:buNone/>
              <a:defRPr sz="3700"/>
            </a:lvl3pPr>
            <a:lvl4pPr marL="0" indent="0" algn="ctr">
              <a:spcBef>
                <a:spcPts val="0"/>
              </a:spcBef>
              <a:buSzTx/>
              <a:buNone/>
              <a:defRPr sz="3700"/>
            </a:lvl4pPr>
            <a:lvl5pPr marL="0" indent="0" algn="ctr">
              <a:spcBef>
                <a:spcPts val="0"/>
              </a:spcBef>
              <a:buSzTx/>
              <a:buNone/>
              <a:defRPr sz="37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View of beach and sea from a grassy sand dune"/>
          <p:cNvSpPr/>
          <p:nvPr>
            <p:ph type="pic" idx="21"/>
          </p:nvPr>
        </p:nvSpPr>
        <p:spPr>
          <a:xfrm>
            <a:off x="1625600" y="374650"/>
            <a:ext cx="9753600" cy="65024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21" name="Title Text"/>
          <p:cNvSpPr txBox="1"/>
          <p:nvPr>
            <p:ph type="title"/>
          </p:nvPr>
        </p:nvSpPr>
        <p:spPr>
          <a:xfrm>
            <a:off x="1270000" y="6718300"/>
            <a:ext cx="10464800" cy="1422400"/>
          </a:xfrm>
          <a:prstGeom prst="rect">
            <a:avLst/>
          </a:prstGeom>
        </p:spPr>
        <p:txBody>
          <a:bodyPr anchor="b"/>
          <a:lstStyle/>
          <a:p>
            <a:pPr/>
            <a:r>
              <a:t>Title Text</a:t>
            </a:r>
          </a:p>
        </p:txBody>
      </p:sp>
      <p:sp>
        <p:nvSpPr>
          <p:cNvPr id="22" name="Body Level One…"/>
          <p:cNvSpPr txBox="1"/>
          <p:nvPr>
            <p:ph type="body" sz="quarter" idx="1"/>
          </p:nvPr>
        </p:nvSpPr>
        <p:spPr>
          <a:xfrm>
            <a:off x="1270000" y="8153400"/>
            <a:ext cx="10464800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700"/>
            </a:lvl1pPr>
            <a:lvl2pPr marL="0" indent="0" algn="ctr">
              <a:spcBef>
                <a:spcPts val="0"/>
              </a:spcBef>
              <a:buSzTx/>
              <a:buNone/>
              <a:defRPr sz="3700"/>
            </a:lvl2pPr>
            <a:lvl3pPr marL="0" indent="0" algn="ctr">
              <a:spcBef>
                <a:spcPts val="0"/>
              </a:spcBef>
              <a:buSzTx/>
              <a:buNone/>
              <a:defRPr sz="3700"/>
            </a:lvl3pPr>
            <a:lvl4pPr marL="0" indent="0" algn="ctr">
              <a:spcBef>
                <a:spcPts val="0"/>
              </a:spcBef>
              <a:buSzTx/>
              <a:buNone/>
              <a:defRPr sz="3700"/>
            </a:lvl4pPr>
            <a:lvl5pPr marL="0" indent="0" algn="ctr">
              <a:spcBef>
                <a:spcPts val="0"/>
              </a:spcBef>
              <a:buSzTx/>
              <a:buNone/>
              <a:defRPr sz="37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- Cen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/>
          <p:cNvSpPr txBox="1"/>
          <p:nvPr>
            <p:ph type="title"/>
          </p:nvPr>
        </p:nvSpPr>
        <p:spPr>
          <a:xfrm>
            <a:off x="1270000" y="3225800"/>
            <a:ext cx="10464800" cy="3302000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Heron flying low over a beach with a short fence in the foreground"/>
          <p:cNvSpPr/>
          <p:nvPr>
            <p:ph type="pic" idx="21"/>
          </p:nvPr>
        </p:nvSpPr>
        <p:spPr>
          <a:xfrm>
            <a:off x="6375400" y="635000"/>
            <a:ext cx="8216900" cy="8216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39" name="Title Text"/>
          <p:cNvSpPr txBox="1"/>
          <p:nvPr>
            <p:ph type="title"/>
          </p:nvPr>
        </p:nvSpPr>
        <p:spPr>
          <a:xfrm>
            <a:off x="952500" y="635000"/>
            <a:ext cx="5334000" cy="3987800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40" name="Body Level One…"/>
          <p:cNvSpPr txBox="1"/>
          <p:nvPr>
            <p:ph type="body" sz="quarter" idx="1"/>
          </p:nvPr>
        </p:nvSpPr>
        <p:spPr>
          <a:xfrm>
            <a:off x="952500" y="4724400"/>
            <a:ext cx="5334000" cy="41148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700"/>
            </a:lvl1pPr>
            <a:lvl2pPr marL="0" indent="0" algn="ctr">
              <a:spcBef>
                <a:spcPts val="0"/>
              </a:spcBef>
              <a:buSzTx/>
              <a:buNone/>
              <a:defRPr sz="3700"/>
            </a:lvl2pPr>
            <a:lvl3pPr marL="0" indent="0" algn="ctr">
              <a:spcBef>
                <a:spcPts val="0"/>
              </a:spcBef>
              <a:buSzTx/>
              <a:buNone/>
              <a:defRPr sz="3700"/>
            </a:lvl3pPr>
            <a:lvl4pPr marL="0" indent="0" algn="ctr">
              <a:spcBef>
                <a:spcPts val="0"/>
              </a:spcBef>
              <a:buSzTx/>
              <a:buNone/>
              <a:defRPr sz="3700"/>
            </a:lvl4pPr>
            <a:lvl5pPr marL="0" indent="0" algn="ctr">
              <a:spcBef>
                <a:spcPts val="0"/>
              </a:spcBef>
              <a:buSzTx/>
              <a:buNone/>
              <a:defRPr sz="37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7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andy path between two hills leading to the ocean"/>
          <p:cNvSpPr/>
          <p:nvPr>
            <p:ph type="pic" idx="21"/>
          </p:nvPr>
        </p:nvSpPr>
        <p:spPr>
          <a:xfrm>
            <a:off x="3810000" y="2590800"/>
            <a:ext cx="9429750" cy="62865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66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67" name="Body Level One…"/>
          <p:cNvSpPr txBox="1"/>
          <p:nvPr>
            <p:ph type="body" sz="half" idx="1"/>
          </p:nvPr>
        </p:nvSpPr>
        <p:spPr>
          <a:xfrm>
            <a:off x="952500" y="2590800"/>
            <a:ext cx="5334000" cy="6286500"/>
          </a:xfrm>
          <a:prstGeom prst="rect">
            <a:avLst/>
          </a:prstGeom>
        </p:spPr>
        <p:txBody>
          <a:bodyPr/>
          <a:lstStyle>
            <a:lvl1pPr marL="342900" indent="-342900">
              <a:spcBef>
                <a:spcPts val="3200"/>
              </a:spcBef>
              <a:defRPr sz="2800"/>
            </a:lvl1pPr>
            <a:lvl2pPr marL="685800" indent="-342900">
              <a:spcBef>
                <a:spcPts val="3200"/>
              </a:spcBef>
              <a:defRPr sz="2800"/>
            </a:lvl2pPr>
            <a:lvl3pPr marL="1028700" indent="-342900">
              <a:spcBef>
                <a:spcPts val="3200"/>
              </a:spcBef>
              <a:defRPr sz="2800"/>
            </a:lvl3pPr>
            <a:lvl4pPr marL="1371600" indent="-342900">
              <a:spcBef>
                <a:spcPts val="3200"/>
              </a:spcBef>
              <a:defRPr sz="2800"/>
            </a:lvl4pPr>
            <a:lvl5pPr marL="1714500" indent="-342900">
              <a:spcBef>
                <a:spcPts val="32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/>
          <p:nvPr>
            <p:ph type="sldNum" sz="quarter" idx="2"/>
          </p:nvPr>
        </p:nvSpPr>
        <p:spPr>
          <a:xfrm>
            <a:off x="6328884" y="9296400"/>
            <a:ext cx="340259" cy="3429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76" name="Body Level One…"/>
          <p:cNvSpPr txBox="1"/>
          <p:nvPr>
            <p:ph type="body" sz="half" idx="1"/>
          </p:nvPr>
        </p:nvSpPr>
        <p:spPr>
          <a:xfrm>
            <a:off x="952500" y="2590800"/>
            <a:ext cx="5334000" cy="6286500"/>
          </a:xfrm>
          <a:prstGeom prst="rect">
            <a:avLst/>
          </a:prstGeom>
        </p:spPr>
        <p:txBody>
          <a:bodyPr/>
          <a:lstStyle>
            <a:lvl1pPr marL="342900" indent="-342900">
              <a:spcBef>
                <a:spcPts val="3200"/>
              </a:spcBef>
              <a:defRPr sz="2800"/>
            </a:lvl1pPr>
            <a:lvl2pPr marL="685800" indent="-342900">
              <a:spcBef>
                <a:spcPts val="3200"/>
              </a:spcBef>
              <a:defRPr sz="2800"/>
            </a:lvl2pPr>
            <a:lvl3pPr marL="1028700" indent="-342900">
              <a:spcBef>
                <a:spcPts val="3200"/>
              </a:spcBef>
              <a:defRPr sz="2800"/>
            </a:lvl3pPr>
            <a:lvl4pPr marL="1371600" indent="-342900">
              <a:spcBef>
                <a:spcPts val="3200"/>
              </a:spcBef>
              <a:defRPr sz="2800"/>
            </a:lvl4pPr>
            <a:lvl5pPr marL="1714500" indent="-342900">
              <a:spcBef>
                <a:spcPts val="32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7" name="Slide Number"/>
          <p:cNvSpPr txBox="1"/>
          <p:nvPr>
            <p:ph type="sldNum" sz="quarter" idx="2"/>
          </p:nvPr>
        </p:nvSpPr>
        <p:spPr>
          <a:xfrm>
            <a:off x="6328884" y="9296400"/>
            <a:ext cx="340259" cy="3429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85" name="Body Level One…"/>
          <p:cNvSpPr txBox="1"/>
          <p:nvPr>
            <p:ph type="body" sz="half" idx="1"/>
          </p:nvPr>
        </p:nvSpPr>
        <p:spPr>
          <a:xfrm>
            <a:off x="952500" y="2590800"/>
            <a:ext cx="5334000" cy="6286500"/>
          </a:xfrm>
          <a:prstGeom prst="rect">
            <a:avLst/>
          </a:prstGeom>
        </p:spPr>
        <p:txBody>
          <a:bodyPr/>
          <a:lstStyle>
            <a:lvl1pPr marL="342900" indent="-342900">
              <a:spcBef>
                <a:spcPts val="3200"/>
              </a:spcBef>
              <a:defRPr sz="2800"/>
            </a:lvl1pPr>
            <a:lvl2pPr marL="685800" indent="-342900">
              <a:spcBef>
                <a:spcPts val="3200"/>
              </a:spcBef>
              <a:defRPr sz="2800"/>
            </a:lvl2pPr>
            <a:lvl3pPr marL="1028700" indent="-342900">
              <a:spcBef>
                <a:spcPts val="3200"/>
              </a:spcBef>
              <a:defRPr sz="2800"/>
            </a:lvl3pPr>
            <a:lvl4pPr marL="1371600" indent="-342900">
              <a:spcBef>
                <a:spcPts val="3200"/>
              </a:spcBef>
              <a:defRPr sz="2800"/>
            </a:lvl4pPr>
            <a:lvl5pPr marL="1714500" indent="-342900">
              <a:spcBef>
                <a:spcPts val="32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6" name="Slide Number"/>
          <p:cNvSpPr txBox="1"/>
          <p:nvPr>
            <p:ph type="sldNum" sz="quarter" idx="2"/>
          </p:nvPr>
        </p:nvSpPr>
        <p:spPr>
          <a:xfrm>
            <a:off x="6328884" y="9296400"/>
            <a:ext cx="340259" cy="3429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Body Level One…"/>
          <p:cNvSpPr txBox="1"/>
          <p:nvPr>
            <p:ph type="body" idx="1"/>
          </p:nvPr>
        </p:nvSpPr>
        <p:spPr>
          <a:xfrm>
            <a:off x="952500" y="1270000"/>
            <a:ext cx="11099800" cy="7213600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andy path between two hills leading to the ocean"/>
          <p:cNvSpPr/>
          <p:nvPr>
            <p:ph type="pic" sz="quarter" idx="21"/>
          </p:nvPr>
        </p:nvSpPr>
        <p:spPr>
          <a:xfrm>
            <a:off x="6556375" y="5092700"/>
            <a:ext cx="5657850" cy="3771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02" name="Heron flying low over a beach with a short fence in the foreground"/>
          <p:cNvSpPr/>
          <p:nvPr>
            <p:ph type="pic" sz="half" idx="22"/>
          </p:nvPr>
        </p:nvSpPr>
        <p:spPr>
          <a:xfrm>
            <a:off x="6718300" y="749300"/>
            <a:ext cx="5334000" cy="53340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03" name="View of beach and sea from a grassy sand dune"/>
          <p:cNvSpPr/>
          <p:nvPr>
            <p:ph type="pic" idx="23"/>
          </p:nvPr>
        </p:nvSpPr>
        <p:spPr>
          <a:xfrm>
            <a:off x="-2832100" y="889000"/>
            <a:ext cx="11963400" cy="79756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0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–Johnny Appleseed"/>
          <p:cNvSpPr txBox="1"/>
          <p:nvPr>
            <p:ph type="body" sz="quarter" idx="21"/>
          </p:nvPr>
        </p:nvSpPr>
        <p:spPr>
          <a:xfrm>
            <a:off x="1270000" y="6362700"/>
            <a:ext cx="10464800" cy="461366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i="1" sz="2400"/>
            </a:lvl1pPr>
          </a:lstStyle>
          <a:p>
            <a:pPr/>
            <a:r>
              <a:t>–Johnny Appleseed</a:t>
            </a:r>
          </a:p>
        </p:txBody>
      </p:sp>
      <p:sp>
        <p:nvSpPr>
          <p:cNvPr id="112" name="“Type a quote here.”"/>
          <p:cNvSpPr txBox="1"/>
          <p:nvPr>
            <p:ph type="body" sz="quarter" idx="22"/>
          </p:nvPr>
        </p:nvSpPr>
        <p:spPr>
          <a:xfrm>
            <a:off x="1270000" y="4267112"/>
            <a:ext cx="10464800" cy="609776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3400"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pPr/>
            <a:r>
              <a:t>“Type a quote here.” </a:t>
            </a:r>
          </a:p>
        </p:txBody>
      </p:sp>
      <p:sp>
        <p:nvSpPr>
          <p:cNvPr id="1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View of beach and sea from a grassy sand dune"/>
          <p:cNvSpPr/>
          <p:nvPr>
            <p:ph type="pic" idx="21"/>
          </p:nvPr>
        </p:nvSpPr>
        <p:spPr>
          <a:xfrm>
            <a:off x="-1308100" y="-50800"/>
            <a:ext cx="14782800" cy="98552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2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952500" y="254000"/>
            <a:ext cx="11099800" cy="2159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952500" y="2590800"/>
            <a:ext cx="11099800" cy="628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6328884" y="9296400"/>
            <a:ext cx="340259" cy="324306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algn="ctr">
              <a:spcBef>
                <a:spcPts val="0"/>
              </a:spcBef>
              <a:defRPr sz="16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transition xmlns:p14="http://schemas.microsoft.com/office/powerpoint/2010/main" spd="med" advClick="1"/>
  <p:txStyles>
    <p:title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444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889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333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1778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2222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2667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3111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3556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4000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.png"/><Relationship Id="rId3" Type="http://schemas.openxmlformats.org/officeDocument/2006/relationships/chart" Target="../charts/chart1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.png"/><Relationship Id="rId3" Type="http://schemas.openxmlformats.org/officeDocument/2006/relationships/chart" Target="../charts/chart2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.png"/><Relationship Id="rId3" Type="http://schemas.openxmlformats.org/officeDocument/2006/relationships/chart" Target="../charts/chart3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.png"/><Relationship Id="rId3" Type="http://schemas.openxmlformats.org/officeDocument/2006/relationships/chart" Target="../charts/chart4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header_bar.png" descr="header_bar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3004800" cy="1778000"/>
          </a:xfrm>
          <a:prstGeom prst="rect">
            <a:avLst/>
          </a:prstGeom>
          <a:ln w="12700">
            <a:miter lim="400000"/>
          </a:ln>
        </p:spPr>
      </p:pic>
      <p:sp>
        <p:nvSpPr>
          <p:cNvPr id="138" name="ADtelligent - ADinsights Stakeholder Brief"/>
          <p:cNvSpPr txBox="1"/>
          <p:nvPr/>
        </p:nvSpPr>
        <p:spPr>
          <a:xfrm>
            <a:off x="685799" y="595808"/>
            <a:ext cx="11684001" cy="6117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ADtelligent - ADinsights Stakeholder Brief</a:t>
            </a:r>
          </a:p>
        </p:txBody>
      </p:sp>
      <p:sp>
        <p:nvSpPr>
          <p:cNvPr id="139" name="Unified paid-media intelligence for faster, safer stakeholder decisions"/>
          <p:cNvSpPr txBox="1"/>
          <p:nvPr/>
        </p:nvSpPr>
        <p:spPr>
          <a:xfrm>
            <a:off x="889000" y="2775663"/>
            <a:ext cx="11176001" cy="10780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4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Unified paid-media intelligence for faster, safer stakeholder decisions</a:t>
            </a:r>
          </a:p>
        </p:txBody>
      </p:sp>
      <p:sp>
        <p:nvSpPr>
          <p:cNvPr id="140" name="Theme: Orange + White titles, Black body text | Audience: Leadership, Account, Analyst, Ops, Security"/>
          <p:cNvSpPr txBox="1"/>
          <p:nvPr/>
        </p:nvSpPr>
        <p:spPr>
          <a:xfrm>
            <a:off x="889000" y="4411262"/>
            <a:ext cx="11176000" cy="7024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1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Theme: Orange + White titles, Black body text | Audience: Leadership, Account, Analyst, Ops, Security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header_bar.png" descr="header_bar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3004800" cy="1778000"/>
          </a:xfrm>
          <a:prstGeom prst="rect">
            <a:avLst/>
          </a:prstGeom>
          <a:ln w="12700">
            <a:miter lim="400000"/>
          </a:ln>
        </p:spPr>
      </p:pic>
      <p:sp>
        <p:nvSpPr>
          <p:cNvPr id="143" name="ADinsights Creates One Trusted Decision Layer"/>
          <p:cNvSpPr txBox="1"/>
          <p:nvPr/>
        </p:nvSpPr>
        <p:spPr>
          <a:xfrm>
            <a:off x="685800" y="595808"/>
            <a:ext cx="11684000" cy="6117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ADinsights Creates One Trusted Decision Layer</a:t>
            </a:r>
          </a:p>
        </p:txBody>
      </p:sp>
      <p:sp>
        <p:nvSpPr>
          <p:cNvPr id="144" name="- One source of truth across Meta and Google paid media performance…"/>
          <p:cNvSpPr txBox="1"/>
          <p:nvPr/>
        </p:nvSpPr>
        <p:spPr>
          <a:xfrm>
            <a:off x="888999" y="4062843"/>
            <a:ext cx="11226801" cy="29995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2500">
                <a:latin typeface="Arial"/>
                <a:ea typeface="Arial"/>
                <a:cs typeface="Arial"/>
                <a:sym typeface="Arial"/>
              </a:defRPr>
            </a:pPr>
            <a:r>
              <a:t>- One source of truth across Meta and Google paid media performance</a:t>
            </a:r>
          </a:p>
          <a:p>
            <a:pPr>
              <a:defRPr sz="2500">
                <a:latin typeface="Arial"/>
                <a:ea typeface="Arial"/>
                <a:cs typeface="Arial"/>
                <a:sym typeface="Arial"/>
              </a:defRPr>
            </a:pPr>
            <a:r>
              <a:t>- Faster reporting through automated ingestion, modeling, and dashboard snapshots</a:t>
            </a:r>
          </a:p>
          <a:p>
            <a:pPr>
              <a:defRPr sz="2500">
                <a:latin typeface="Arial"/>
                <a:ea typeface="Arial"/>
                <a:cs typeface="Arial"/>
                <a:sym typeface="Arial"/>
              </a:defRPr>
            </a:pPr>
            <a:r>
              <a:t>- Higher stakeholder confidence from freshness indicators and runbook-backed operations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header_bar.png" descr="header_bar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3004800" cy="1778000"/>
          </a:xfrm>
          <a:prstGeom prst="rect">
            <a:avLst/>
          </a:prstGeom>
          <a:ln w="12700">
            <a:miter lim="400000"/>
          </a:ln>
        </p:spPr>
      </p:pic>
      <p:sp>
        <p:nvSpPr>
          <p:cNvPr id="147" name="Every Stakeholder Gets Faster Clarity"/>
          <p:cNvSpPr txBox="1"/>
          <p:nvPr/>
        </p:nvSpPr>
        <p:spPr>
          <a:xfrm>
            <a:off x="685800" y="595808"/>
            <a:ext cx="11684000" cy="6117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Every Stakeholder Gets Faster Clarity</a:t>
            </a:r>
          </a:p>
        </p:txBody>
      </p:sp>
      <p:sp>
        <p:nvSpPr>
          <p:cNvPr id="148" name="- Agency leadership: portfolio visibility and growth confidence…"/>
          <p:cNvSpPr txBox="1"/>
          <p:nvPr/>
        </p:nvSpPr>
        <p:spPr>
          <a:xfrm>
            <a:off x="889000" y="3103993"/>
            <a:ext cx="11226800" cy="4434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2500">
                <a:latin typeface="Arial"/>
                <a:ea typeface="Arial"/>
                <a:cs typeface="Arial"/>
                <a:sym typeface="Arial"/>
              </a:defRPr>
            </a:pPr>
            <a:r>
              <a:t>- Agency leadership: portfolio visibility and growth confidence</a:t>
            </a:r>
          </a:p>
          <a:p>
            <a:pPr>
              <a:defRPr sz="2500">
                <a:latin typeface="Arial"/>
                <a:ea typeface="Arial"/>
                <a:cs typeface="Arial"/>
                <a:sym typeface="Arial"/>
              </a:defRPr>
            </a:pPr>
            <a:r>
              <a:t>- Account and client success: faster client-ready reporting</a:t>
            </a:r>
          </a:p>
          <a:p>
            <a:pPr>
              <a:defRPr sz="2500">
                <a:latin typeface="Arial"/>
                <a:ea typeface="Arial"/>
                <a:cs typeface="Arial"/>
                <a:sym typeface="Arial"/>
              </a:defRPr>
            </a:pPr>
            <a:r>
              <a:t>- Analysts and media buyers: optimization-ready campaign and creative drill-downs</a:t>
            </a:r>
          </a:p>
          <a:p>
            <a:pPr>
              <a:defRPr sz="2500">
                <a:latin typeface="Arial"/>
                <a:ea typeface="Arial"/>
                <a:cs typeface="Arial"/>
                <a:sym typeface="Arial"/>
              </a:defRPr>
            </a:pPr>
            <a:r>
              <a:t>- Finance and RevOps: standardized spend and outcomes</a:t>
            </a:r>
          </a:p>
          <a:p>
            <a:pPr>
              <a:defRPr sz="2500">
                <a:latin typeface="Arial"/>
                <a:ea typeface="Arial"/>
                <a:cs typeface="Arial"/>
                <a:sym typeface="Arial"/>
              </a:defRPr>
            </a:pPr>
            <a:r>
              <a:t>- Ops and Security: reliable, tenant-safe operations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header_bar.png" descr="header_bar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3004800" cy="1778000"/>
          </a:xfrm>
          <a:prstGeom prst="rect">
            <a:avLst/>
          </a:prstGeom>
          <a:ln w="12700">
            <a:miter lim="400000"/>
          </a:ln>
        </p:spPr>
      </p:pic>
      <p:sp>
        <p:nvSpPr>
          <p:cNvPr id="151" name="Current Reporting Friction Slows Decisions"/>
          <p:cNvSpPr txBox="1"/>
          <p:nvPr/>
        </p:nvSpPr>
        <p:spPr>
          <a:xfrm>
            <a:off x="685800" y="595808"/>
            <a:ext cx="11684000" cy="6117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Current Reporting Friction Slows Decisions</a:t>
            </a:r>
          </a:p>
        </p:txBody>
      </p:sp>
      <p:sp>
        <p:nvSpPr>
          <p:cNvPr id="152" name="- Fragmented channel reporting and manual reconciliation…"/>
          <p:cNvSpPr txBox="1"/>
          <p:nvPr/>
        </p:nvSpPr>
        <p:spPr>
          <a:xfrm>
            <a:off x="888999" y="3980293"/>
            <a:ext cx="11226801" cy="3164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2500">
                <a:latin typeface="Arial"/>
                <a:ea typeface="Arial"/>
                <a:cs typeface="Arial"/>
                <a:sym typeface="Arial"/>
              </a:defRPr>
            </a:pPr>
            <a:r>
              <a:t>- Fragmented channel reporting and manual reconciliation</a:t>
            </a:r>
          </a:p>
          <a:p>
            <a:pPr>
              <a:defRPr sz="2500">
                <a:latin typeface="Arial"/>
                <a:ea typeface="Arial"/>
                <a:cs typeface="Arial"/>
                <a:sym typeface="Arial"/>
              </a:defRPr>
            </a:pPr>
            <a:r>
              <a:t>- Delayed insights for leadership and client reviews</a:t>
            </a:r>
          </a:p>
          <a:p>
            <a:pPr>
              <a:defRPr sz="2500">
                <a:latin typeface="Arial"/>
                <a:ea typeface="Arial"/>
                <a:cs typeface="Arial"/>
                <a:sym typeface="Arial"/>
              </a:defRPr>
            </a:pPr>
            <a:r>
              <a:t>- Inconsistent definitions across teams</a:t>
            </a:r>
          </a:p>
          <a:p>
            <a:pPr>
              <a:defRPr sz="2500">
                <a:latin typeface="Arial"/>
                <a:ea typeface="Arial"/>
                <a:cs typeface="Arial"/>
                <a:sym typeface="Arial"/>
              </a:defRPr>
            </a:pPr>
            <a:r>
              <a:t>- Stale data discovered too late in the reporting cycle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header_bar.png" descr="header_bar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3004800" cy="1778000"/>
          </a:xfrm>
          <a:prstGeom prst="rect">
            <a:avLst/>
          </a:prstGeom>
          <a:ln w="12700">
            <a:miter lim="400000"/>
          </a:ln>
        </p:spPr>
      </p:pic>
      <p:sp>
        <p:nvSpPr>
          <p:cNvPr id="155" name="Automated Data Flow Reduces Reporting Risk"/>
          <p:cNvSpPr txBox="1"/>
          <p:nvPr/>
        </p:nvSpPr>
        <p:spPr>
          <a:xfrm>
            <a:off x="685800" y="595808"/>
            <a:ext cx="11684000" cy="6117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Automated Data Flow Reduces Reporting Risk</a:t>
            </a:r>
          </a:p>
        </p:txBody>
      </p:sp>
      <p:sp>
        <p:nvSpPr>
          <p:cNvPr id="156" name="End-to-end flow from ingestion to stakeholder decisions"/>
          <p:cNvSpPr txBox="1"/>
          <p:nvPr/>
        </p:nvSpPr>
        <p:spPr>
          <a:xfrm>
            <a:off x="889000" y="2054789"/>
            <a:ext cx="11226801" cy="3608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1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End-to-end flow from ingestion to stakeholder decisions</a:t>
            </a:r>
          </a:p>
        </p:txBody>
      </p:sp>
      <p:sp>
        <p:nvSpPr>
          <p:cNvPr id="157" name="Airbyte…"/>
          <p:cNvSpPr/>
          <p:nvPr/>
        </p:nvSpPr>
        <p:spPr>
          <a:xfrm>
            <a:off x="762000" y="3556000"/>
            <a:ext cx="2413000" cy="114300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 algn="ctr">
              <a:spcBef>
                <a:spcPts val="0"/>
              </a:spcBef>
              <a:defRPr sz="1600">
                <a:latin typeface="Arial"/>
                <a:ea typeface="Arial"/>
                <a:cs typeface="Arial"/>
                <a:sym typeface="Arial"/>
              </a:defRPr>
            </a:pPr>
            <a:r>
              <a:t>Airbyte</a:t>
            </a:r>
          </a:p>
          <a:p>
            <a:pPr algn="ctr">
              <a:spcBef>
                <a:spcPts val="0"/>
              </a:spcBef>
              <a:defRPr sz="1600">
                <a:latin typeface="Arial"/>
                <a:ea typeface="Arial"/>
                <a:cs typeface="Arial"/>
                <a:sym typeface="Arial"/>
              </a:defRPr>
            </a:pPr>
            <a:r>
              <a:t>Ingestion</a:t>
            </a:r>
          </a:p>
        </p:txBody>
      </p:sp>
      <p:sp>
        <p:nvSpPr>
          <p:cNvPr id="158" name="dbt…"/>
          <p:cNvSpPr/>
          <p:nvPr/>
        </p:nvSpPr>
        <p:spPr>
          <a:xfrm>
            <a:off x="3683000" y="3556000"/>
            <a:ext cx="2413000" cy="114300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 algn="ctr">
              <a:spcBef>
                <a:spcPts val="0"/>
              </a:spcBef>
              <a:defRPr sz="1600">
                <a:latin typeface="Arial"/>
                <a:ea typeface="Arial"/>
                <a:cs typeface="Arial"/>
                <a:sym typeface="Arial"/>
              </a:defRPr>
            </a:pPr>
            <a:r>
              <a:t>dbt</a:t>
            </a:r>
          </a:p>
          <a:p>
            <a:pPr algn="ctr">
              <a:spcBef>
                <a:spcPts val="0"/>
              </a:spcBef>
              <a:defRPr sz="1600">
                <a:latin typeface="Arial"/>
                <a:ea typeface="Arial"/>
                <a:cs typeface="Arial"/>
                <a:sym typeface="Arial"/>
              </a:defRPr>
            </a:pPr>
            <a:r>
              <a:t>Modeling</a:t>
            </a:r>
          </a:p>
        </p:txBody>
      </p:sp>
      <p:sp>
        <p:nvSpPr>
          <p:cNvPr id="159" name="Django API…"/>
          <p:cNvSpPr/>
          <p:nvPr/>
        </p:nvSpPr>
        <p:spPr>
          <a:xfrm>
            <a:off x="6604000" y="3556000"/>
            <a:ext cx="2413000" cy="114300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 algn="ctr">
              <a:spcBef>
                <a:spcPts val="0"/>
              </a:spcBef>
              <a:defRPr sz="1600">
                <a:latin typeface="Arial"/>
                <a:ea typeface="Arial"/>
                <a:cs typeface="Arial"/>
                <a:sym typeface="Arial"/>
              </a:defRPr>
            </a:pPr>
            <a:r>
              <a:t>Django API</a:t>
            </a:r>
          </a:p>
          <a:p>
            <a:pPr algn="ctr">
              <a:spcBef>
                <a:spcPts val="0"/>
              </a:spcBef>
              <a:defRPr sz="1600">
                <a:latin typeface="Arial"/>
                <a:ea typeface="Arial"/>
                <a:cs typeface="Arial"/>
                <a:sym typeface="Arial"/>
              </a:defRPr>
            </a:pPr>
            <a:r>
              <a:t>Snapshots</a:t>
            </a:r>
          </a:p>
        </p:txBody>
      </p:sp>
      <p:sp>
        <p:nvSpPr>
          <p:cNvPr id="160" name="React UI…"/>
          <p:cNvSpPr/>
          <p:nvPr/>
        </p:nvSpPr>
        <p:spPr>
          <a:xfrm>
            <a:off x="9525000" y="3556000"/>
            <a:ext cx="2413000" cy="114300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 algn="ctr">
              <a:spcBef>
                <a:spcPts val="0"/>
              </a:spcBef>
              <a:defRPr sz="1600">
                <a:latin typeface="Arial"/>
                <a:ea typeface="Arial"/>
                <a:cs typeface="Arial"/>
                <a:sym typeface="Arial"/>
              </a:defRPr>
            </a:pPr>
            <a:r>
              <a:t>React UI</a:t>
            </a:r>
          </a:p>
          <a:p>
            <a:pPr algn="ctr">
              <a:spcBef>
                <a:spcPts val="0"/>
              </a:spcBef>
              <a:defRPr sz="1600">
                <a:latin typeface="Arial"/>
                <a:ea typeface="Arial"/>
                <a:cs typeface="Arial"/>
                <a:sym typeface="Arial"/>
              </a:defRPr>
            </a:pPr>
            <a:r>
              <a:t>Dashboards</a:t>
            </a:r>
          </a:p>
        </p:txBody>
      </p:sp>
      <p:sp>
        <p:nvSpPr>
          <p:cNvPr id="161" name="-&gt;"/>
          <p:cNvSpPr txBox="1"/>
          <p:nvPr/>
        </p:nvSpPr>
        <p:spPr>
          <a:xfrm>
            <a:off x="3238499" y="3347163"/>
            <a:ext cx="381001" cy="10780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4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-&gt;</a:t>
            </a:r>
          </a:p>
        </p:txBody>
      </p:sp>
      <p:sp>
        <p:nvSpPr>
          <p:cNvPr id="162" name="-&gt;"/>
          <p:cNvSpPr txBox="1"/>
          <p:nvPr/>
        </p:nvSpPr>
        <p:spPr>
          <a:xfrm>
            <a:off x="6159499" y="3347163"/>
            <a:ext cx="381001" cy="10780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4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-&gt;</a:t>
            </a:r>
          </a:p>
        </p:txBody>
      </p:sp>
      <p:sp>
        <p:nvSpPr>
          <p:cNvPr id="163" name="-&gt;"/>
          <p:cNvSpPr txBox="1"/>
          <p:nvPr/>
        </p:nvSpPr>
        <p:spPr>
          <a:xfrm>
            <a:off x="9080499" y="3347163"/>
            <a:ext cx="381001" cy="10780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4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-&gt;</a:t>
            </a:r>
          </a:p>
        </p:txBody>
      </p:sp>
      <p:sp>
        <p:nvSpPr>
          <p:cNvPr id="164" name="Tenant-safe context across every layer | Aggregated metrics only | Freshness monitored"/>
          <p:cNvSpPr txBox="1"/>
          <p:nvPr/>
        </p:nvSpPr>
        <p:spPr>
          <a:xfrm>
            <a:off x="888999" y="5776304"/>
            <a:ext cx="11226801" cy="3853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0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Tenant-safe context across every layer | Aggregated metrics only | Freshness monitored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header_bar.png" descr="header_bar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3004800" cy="1778000"/>
          </a:xfrm>
          <a:prstGeom prst="rect">
            <a:avLst/>
          </a:prstGeom>
          <a:ln w="12700">
            <a:miter lim="400000"/>
          </a:ln>
        </p:spPr>
      </p:pic>
      <p:sp>
        <p:nvSpPr>
          <p:cNvPr id="167" name="Role-Based Value Is Clear and Actionable"/>
          <p:cNvSpPr txBox="1"/>
          <p:nvPr/>
        </p:nvSpPr>
        <p:spPr>
          <a:xfrm>
            <a:off x="685800" y="595808"/>
            <a:ext cx="11684001" cy="6117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Role-Based Value Is Clear and Actionable</a:t>
            </a:r>
          </a:p>
        </p:txBody>
      </p:sp>
      <p:sp>
        <p:nvSpPr>
          <p:cNvPr id="168" name="Commercial Stakeholders"/>
          <p:cNvSpPr txBox="1"/>
          <p:nvPr/>
        </p:nvSpPr>
        <p:spPr>
          <a:xfrm>
            <a:off x="889000" y="2240185"/>
            <a:ext cx="5334000" cy="4472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4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Commercial Stakeholders</a:t>
            </a:r>
          </a:p>
        </p:txBody>
      </p:sp>
      <p:sp>
        <p:nvSpPr>
          <p:cNvPr id="169" name="Delivery Stakeholders"/>
          <p:cNvSpPr txBox="1"/>
          <p:nvPr/>
        </p:nvSpPr>
        <p:spPr>
          <a:xfrm>
            <a:off x="6807200" y="2240185"/>
            <a:ext cx="5334001" cy="4472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4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Delivery Stakeholders</a:t>
            </a:r>
          </a:p>
        </p:txBody>
      </p:sp>
      <p:sp>
        <p:nvSpPr>
          <p:cNvPr id="170" name="- Leadership: see portfolio health at a glance…"/>
          <p:cNvSpPr txBox="1"/>
          <p:nvPr/>
        </p:nvSpPr>
        <p:spPr>
          <a:xfrm>
            <a:off x="889000" y="3960204"/>
            <a:ext cx="5334001" cy="20363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2000">
                <a:latin typeface="Arial"/>
                <a:ea typeface="Arial"/>
                <a:cs typeface="Arial"/>
                <a:sym typeface="Arial"/>
              </a:defRPr>
            </a:pPr>
            <a:r>
              <a:t>- Leadership: see portfolio health at a glance</a:t>
            </a:r>
          </a:p>
          <a:p>
            <a:pPr>
              <a:defRPr sz="2000">
                <a:latin typeface="Arial"/>
                <a:ea typeface="Arial"/>
                <a:cs typeface="Arial"/>
                <a:sym typeface="Arial"/>
              </a:defRPr>
            </a:pPr>
            <a:r>
              <a:t>- Account leads: prep client reviews faster</a:t>
            </a:r>
          </a:p>
          <a:p>
            <a:pPr>
              <a:defRPr sz="2000">
                <a:latin typeface="Arial"/>
                <a:ea typeface="Arial"/>
                <a:cs typeface="Arial"/>
                <a:sym typeface="Arial"/>
              </a:defRPr>
            </a:pPr>
            <a:r>
              <a:t>- Finance: track spend efficiency and pacing</a:t>
            </a:r>
          </a:p>
        </p:txBody>
      </p:sp>
      <p:sp>
        <p:nvSpPr>
          <p:cNvPr id="171" name="- Analysts: drill into campaigns and creative performance…"/>
          <p:cNvSpPr txBox="1"/>
          <p:nvPr/>
        </p:nvSpPr>
        <p:spPr>
          <a:xfrm>
            <a:off x="6807199" y="3185504"/>
            <a:ext cx="5334001" cy="26205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2000">
                <a:latin typeface="Arial"/>
                <a:ea typeface="Arial"/>
                <a:cs typeface="Arial"/>
                <a:sym typeface="Arial"/>
              </a:defRPr>
            </a:pPr>
            <a:r>
              <a:t>- Analysts: drill into campaigns and creative performance</a:t>
            </a:r>
          </a:p>
          <a:p>
            <a:pPr>
              <a:defRPr sz="2000">
                <a:latin typeface="Arial"/>
                <a:ea typeface="Arial"/>
                <a:cs typeface="Arial"/>
                <a:sym typeface="Arial"/>
              </a:defRPr>
            </a:pPr>
            <a:r>
              <a:t>- Ops: monitor freshness and sync reliability</a:t>
            </a:r>
          </a:p>
          <a:p>
            <a:pPr>
              <a:defRPr sz="2000">
                <a:latin typeface="Arial"/>
                <a:ea typeface="Arial"/>
                <a:cs typeface="Arial"/>
                <a:sym typeface="Arial"/>
              </a:defRPr>
            </a:pPr>
            <a:r>
              <a:t>- Security: maintain tenant isolation and secrets hygiene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header_bar.png" descr="header_bar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3004800" cy="1778000"/>
          </a:xfrm>
          <a:prstGeom prst="rect">
            <a:avLst/>
          </a:prstGeom>
          <a:ln w="12700">
            <a:miter lim="400000"/>
          </a:ln>
        </p:spPr>
      </p:pic>
      <p:sp>
        <p:nvSpPr>
          <p:cNvPr id="174" name="Platform Maturity Is Already Strong"/>
          <p:cNvSpPr txBox="1"/>
          <p:nvPr/>
        </p:nvSpPr>
        <p:spPr>
          <a:xfrm>
            <a:off x="685800" y="595808"/>
            <a:ext cx="11684000" cy="6117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Platform Maturity Is Already Strong</a:t>
            </a:r>
          </a:p>
        </p:txBody>
      </p:sp>
      <p:sp>
        <p:nvSpPr>
          <p:cNvPr id="175" name="Current product status across capability areas"/>
          <p:cNvSpPr txBox="1"/>
          <p:nvPr/>
        </p:nvSpPr>
        <p:spPr>
          <a:xfrm>
            <a:off x="889000" y="2054789"/>
            <a:ext cx="11226800" cy="3608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1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Current product status across capability areas</a:t>
            </a:r>
          </a:p>
        </p:txBody>
      </p:sp>
      <p:graphicFrame>
        <p:nvGraphicFramePr>
          <p:cNvPr id="176" name="2D Pie Chart"/>
          <p:cNvGraphicFramePr/>
          <p:nvPr/>
        </p:nvGraphicFramePr>
        <p:xfrm>
          <a:off x="1206500" y="2692400"/>
          <a:ext cx="5461000" cy="5461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header_bar.png" descr="header_bar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3004800" cy="1778000"/>
          </a:xfrm>
          <a:prstGeom prst="rect">
            <a:avLst/>
          </a:prstGeom>
          <a:ln w="12700">
            <a:miter lim="400000"/>
          </a:ln>
        </p:spPr>
      </p:pic>
      <p:sp>
        <p:nvSpPr>
          <p:cNvPr id="179" name="Reliability Commitments Protect Trust"/>
          <p:cNvSpPr txBox="1"/>
          <p:nvPr/>
        </p:nvSpPr>
        <p:spPr>
          <a:xfrm>
            <a:off x="685800" y="595808"/>
            <a:ext cx="11684000" cy="6117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Reliability Commitments Protect Trust</a:t>
            </a:r>
          </a:p>
        </p:txBody>
      </p:sp>
      <p:sp>
        <p:nvSpPr>
          <p:cNvPr id="180" name="SLA and freshness commitments that protect stakeholder trust"/>
          <p:cNvSpPr txBox="1"/>
          <p:nvPr/>
        </p:nvSpPr>
        <p:spPr>
          <a:xfrm>
            <a:off x="888999" y="1813489"/>
            <a:ext cx="11226801" cy="3608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1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SLA and freshness commitments that protect stakeholder trust</a:t>
            </a:r>
          </a:p>
        </p:txBody>
      </p:sp>
      <p:graphicFrame>
        <p:nvGraphicFramePr>
          <p:cNvPr id="181" name="2D Column Chart"/>
          <p:cNvGraphicFramePr/>
          <p:nvPr/>
        </p:nvGraphicFramePr>
        <p:xfrm>
          <a:off x="417488" y="2357323"/>
          <a:ext cx="11380812" cy="627485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header_bar.png" descr="header_bar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3004800" cy="1778000"/>
          </a:xfrm>
          <a:prstGeom prst="rect">
            <a:avLst/>
          </a:prstGeom>
          <a:ln w="12700">
            <a:miter lim="400000"/>
          </a:ln>
        </p:spPr>
      </p:pic>
      <p:sp>
        <p:nvSpPr>
          <p:cNvPr id="184" name="Impact Is Broad Across Stakeholder Groups"/>
          <p:cNvSpPr txBox="1"/>
          <p:nvPr/>
        </p:nvSpPr>
        <p:spPr>
          <a:xfrm>
            <a:off x="685800" y="595808"/>
            <a:ext cx="11684000" cy="6117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Impact Is Broad Across Stakeholder Groups</a:t>
            </a:r>
          </a:p>
        </p:txBody>
      </p:sp>
      <p:sp>
        <p:nvSpPr>
          <p:cNvPr id="185" name="Illustrative value intensity by role"/>
          <p:cNvSpPr txBox="1"/>
          <p:nvPr/>
        </p:nvSpPr>
        <p:spPr>
          <a:xfrm>
            <a:off x="888999" y="2054789"/>
            <a:ext cx="11226801" cy="3608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1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Illustrative value intensity by role</a:t>
            </a:r>
          </a:p>
        </p:txBody>
      </p:sp>
      <p:graphicFrame>
        <p:nvGraphicFramePr>
          <p:cNvPr id="186" name="2D Bar Chart"/>
          <p:cNvGraphicFramePr/>
          <p:nvPr/>
        </p:nvGraphicFramePr>
        <p:xfrm>
          <a:off x="-518782" y="2357323"/>
          <a:ext cx="12556452" cy="627485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header_bar.png" descr="header_bar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3004800" cy="1778000"/>
          </a:xfrm>
          <a:prstGeom prst="rect">
            <a:avLst/>
          </a:prstGeom>
          <a:ln w="12700">
            <a:miter lim="400000"/>
          </a:ln>
        </p:spPr>
      </p:pic>
      <p:sp>
        <p:nvSpPr>
          <p:cNvPr id="189" name="Adoption Can Scale Within 90 Days"/>
          <p:cNvSpPr txBox="1"/>
          <p:nvPr/>
        </p:nvSpPr>
        <p:spPr>
          <a:xfrm>
            <a:off x="685799" y="595808"/>
            <a:ext cx="11684001" cy="6117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Adoption Can Scale Within 90 Days</a:t>
            </a:r>
          </a:p>
        </p:txBody>
      </p:sp>
      <p:sp>
        <p:nvSpPr>
          <p:cNvPr id="190" name="Planned tenant coverage progression after kickoff"/>
          <p:cNvSpPr txBox="1"/>
          <p:nvPr/>
        </p:nvSpPr>
        <p:spPr>
          <a:xfrm>
            <a:off x="889000" y="2054789"/>
            <a:ext cx="11226800" cy="3608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1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Planned tenant coverage progression after kickoff</a:t>
            </a:r>
          </a:p>
        </p:txBody>
      </p:sp>
      <p:graphicFrame>
        <p:nvGraphicFramePr>
          <p:cNvPr id="191" name="2D Line Chart"/>
          <p:cNvGraphicFramePr/>
          <p:nvPr/>
        </p:nvGraphicFramePr>
        <p:xfrm>
          <a:off x="417488" y="2357323"/>
          <a:ext cx="11824563" cy="627485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header_bar.png" descr="header_bar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3004800" cy="1778000"/>
          </a:xfrm>
          <a:prstGeom prst="rect">
            <a:avLst/>
          </a:prstGeom>
          <a:ln w="12700">
            <a:miter lim="400000"/>
          </a:ln>
        </p:spPr>
      </p:pic>
      <p:sp>
        <p:nvSpPr>
          <p:cNvPr id="194" name="Key Risks Have Defined Mitigations"/>
          <p:cNvSpPr txBox="1"/>
          <p:nvPr/>
        </p:nvSpPr>
        <p:spPr>
          <a:xfrm>
            <a:off x="685800" y="595808"/>
            <a:ext cx="11684000" cy="6117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Key Risks Have Defined Mitigations</a:t>
            </a:r>
          </a:p>
        </p:txBody>
      </p:sp>
      <p:sp>
        <p:nvSpPr>
          <p:cNvPr id="195" name="- Data quality regression -&gt; enforced dbt tests and quality checklist…"/>
          <p:cNvSpPr txBox="1"/>
          <p:nvPr/>
        </p:nvSpPr>
        <p:spPr>
          <a:xfrm>
            <a:off x="889000" y="3256393"/>
            <a:ext cx="11226801" cy="3164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2500">
                <a:latin typeface="Arial"/>
                <a:ea typeface="Arial"/>
                <a:cs typeface="Arial"/>
                <a:sym typeface="Arial"/>
              </a:defRPr>
            </a:pPr>
            <a:r>
              <a:t>- Data quality regression -&gt; enforced dbt tests and quality checklist</a:t>
            </a:r>
          </a:p>
          <a:p>
            <a:pPr>
              <a:defRPr sz="2500">
                <a:latin typeface="Arial"/>
                <a:ea typeface="Arial"/>
                <a:cs typeface="Arial"/>
                <a:sym typeface="Arial"/>
              </a:defRPr>
            </a:pPr>
            <a:r>
              <a:t>- Snapshot staleness -&gt; freshness alerts plus runbook response</a:t>
            </a:r>
          </a:p>
          <a:p>
            <a:pPr>
              <a:defRPr sz="2500">
                <a:latin typeface="Arial"/>
                <a:ea typeface="Arial"/>
                <a:cs typeface="Arial"/>
                <a:sym typeface="Arial"/>
              </a:defRPr>
            </a:pPr>
            <a:r>
              <a:t>- Connector coverage gaps -&gt; phased roadmap and validation checklist</a:t>
            </a:r>
          </a:p>
          <a:p>
            <a:pPr>
              <a:defRPr sz="2500">
                <a:latin typeface="Arial"/>
                <a:ea typeface="Arial"/>
                <a:cs typeface="Arial"/>
                <a:sym typeface="Arial"/>
              </a:defRPr>
            </a:pPr>
            <a:r>
              <a:t>- Secrets exposure -&gt; encryption, KMS strategy, and log scrubbing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header_bar.png" descr="header_bar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3004800" cy="1778000"/>
          </a:xfrm>
          <a:prstGeom prst="rect">
            <a:avLst/>
          </a:prstGeom>
          <a:ln w="12700">
            <a:miter lim="400000"/>
          </a:ln>
        </p:spPr>
      </p:pic>
      <p:sp>
        <p:nvSpPr>
          <p:cNvPr id="198" name="Decision Asks and Next Steps"/>
          <p:cNvSpPr txBox="1"/>
          <p:nvPr/>
        </p:nvSpPr>
        <p:spPr>
          <a:xfrm>
            <a:off x="685800" y="595808"/>
            <a:ext cx="11684000" cy="6117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Decision Asks and Next Steps</a:t>
            </a:r>
          </a:p>
        </p:txBody>
      </p:sp>
      <p:sp>
        <p:nvSpPr>
          <p:cNvPr id="199" name="- Approve pilot tenant set and success baseline…"/>
          <p:cNvSpPr txBox="1"/>
          <p:nvPr/>
        </p:nvSpPr>
        <p:spPr>
          <a:xfrm>
            <a:off x="889000" y="2735485"/>
            <a:ext cx="11226800" cy="31142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2400">
                <a:latin typeface="Arial"/>
                <a:ea typeface="Arial"/>
                <a:cs typeface="Arial"/>
                <a:sym typeface="Arial"/>
              </a:defRPr>
            </a:pPr>
            <a:r>
              <a:t>- Approve pilot tenant set and success baseline</a:t>
            </a:r>
          </a:p>
          <a:p>
            <a:pPr>
              <a:defRPr sz="2400">
                <a:latin typeface="Arial"/>
                <a:ea typeface="Arial"/>
                <a:cs typeface="Arial"/>
                <a:sym typeface="Arial"/>
              </a:defRPr>
            </a:pPr>
            <a:r>
              <a:t>- Confirm weekly operating cadence for leadership, account, analyst, and ops</a:t>
            </a:r>
          </a:p>
          <a:p>
            <a:pPr>
              <a:defRPr sz="2400">
                <a:latin typeface="Arial"/>
                <a:ea typeface="Arial"/>
                <a:cs typeface="Arial"/>
                <a:sym typeface="Arial"/>
              </a:defRPr>
            </a:pPr>
            <a:r>
              <a:t>- Assign escalation owner for reliability incidents and client communications</a:t>
            </a:r>
          </a:p>
          <a:p>
            <a:pPr>
              <a:defRPr sz="2400">
                <a:latin typeface="Arial"/>
                <a:ea typeface="Arial"/>
                <a:cs typeface="Arial"/>
                <a:sym typeface="Arial"/>
              </a:defRPr>
            </a:pPr>
            <a:r>
              <a:t>- Prioritize next-phase scope: connector expansion + advanced reporting UX</a:t>
            </a:r>
          </a:p>
        </p:txBody>
      </p:sp>
      <p:sp>
        <p:nvSpPr>
          <p:cNvPr id="200" name="Recommended next action: 45-minute cross-functional walkthrough using this deck and live dashboard demo."/>
          <p:cNvSpPr txBox="1"/>
          <p:nvPr/>
        </p:nvSpPr>
        <p:spPr>
          <a:xfrm>
            <a:off x="889000" y="7205678"/>
            <a:ext cx="11226800" cy="777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3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Recommended next action: 45-minute cross-functional walkthrough using this deck and live dashboard demo.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584200" rtl="0" fontAlgn="auto" latinLnBrk="0" hangingPunct="0">
          <a:lnSpc>
            <a:spcPct val="100000"/>
          </a:lnSpc>
          <a:spcBef>
            <a:spcPts val="42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584200" rtl="0" fontAlgn="auto" latinLnBrk="0" hangingPunct="0">
          <a:lnSpc>
            <a:spcPct val="100000"/>
          </a:lnSpc>
          <a:spcBef>
            <a:spcPts val="42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